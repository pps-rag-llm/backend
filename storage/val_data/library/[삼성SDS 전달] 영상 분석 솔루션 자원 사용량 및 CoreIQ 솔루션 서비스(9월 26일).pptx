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notesMasterIdLst>
    <p:notesMasterId r:id="rId6"/>
  </p:notesMasterIdLst>
  <p:sldIdLst>
    <p:sldId id="402" r:id="rId2"/>
    <p:sldId id="403" r:id="rId3"/>
    <p:sldId id="401" r:id="rId4"/>
    <p:sldId id="404" r:id="rId5"/>
  </p:sldIdLst>
  <p:sldSz cx="9906000" cy="6858000" type="A4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37F"/>
    <a:srgbClr val="166086"/>
    <a:srgbClr val="9DCCE6"/>
    <a:srgbClr val="9BD3E2"/>
    <a:srgbClr val="B0C7DF"/>
    <a:srgbClr val="D3EEF7"/>
    <a:srgbClr val="3EB1A2"/>
    <a:srgbClr val="FFFF00"/>
    <a:srgbClr val="B3050D"/>
    <a:srgbClr val="8303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96115" autoAdjust="0"/>
  </p:normalViewPr>
  <p:slideViewPr>
    <p:cSldViewPr snapToGrid="0" showGuides="1">
      <p:cViewPr varScale="1">
        <p:scale>
          <a:sx n="123" d="100"/>
          <a:sy n="123" d="100"/>
        </p:scale>
        <p:origin x="1829" y="101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8" y="0"/>
            <a:ext cx="2984871" cy="502676"/>
          </a:xfrm>
          <a:prstGeom prst="rect">
            <a:avLst/>
          </a:prstGeom>
        </p:spPr>
        <p:txBody>
          <a:bodyPr vert="horz" lIns="96606" tIns="48303" rIns="96606" bIns="48303" rtlCol="0"/>
          <a:lstStyle>
            <a:lvl1pPr algn="r">
              <a:defRPr sz="1300"/>
            </a:lvl1pPr>
          </a:lstStyle>
          <a:p>
            <a:fld id="{03FB59A9-FAF0-46AF-B1D8-8F001AA358A3}" type="datetimeFigureOut">
              <a:rPr lang="ko-KR" altLang="en-US" smtClean="0"/>
              <a:t>2025-09-24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3300" y="1252538"/>
            <a:ext cx="48815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06" tIns="48303" rIns="96606" bIns="48303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6"/>
            <a:ext cx="5510530" cy="3944868"/>
          </a:xfrm>
          <a:prstGeom prst="rect">
            <a:avLst/>
          </a:prstGeom>
        </p:spPr>
        <p:txBody>
          <a:bodyPr vert="horz" lIns="96606" tIns="48303" rIns="96606" bIns="48303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8" y="9516039"/>
            <a:ext cx="2984871" cy="502674"/>
          </a:xfrm>
          <a:prstGeom prst="rect">
            <a:avLst/>
          </a:prstGeom>
        </p:spPr>
        <p:txBody>
          <a:bodyPr vert="horz" lIns="96606" tIns="48303" rIns="96606" bIns="48303" rtlCol="0" anchor="b"/>
          <a:lstStyle>
            <a:lvl1pPr algn="r">
              <a:defRPr sz="1300"/>
            </a:lvl1pPr>
          </a:lstStyle>
          <a:p>
            <a:fld id="{5C61EB62-2E73-403F-B5D5-B43BFAAF31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568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Ⅰ-키포인트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5730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Ⅱ-키포인트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098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Ⅲ-키포인트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29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2025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185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371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557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742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889" indent="-342889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26" indent="-285741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2964" indent="-228593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149" indent="-228593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335" indent="-228593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520" indent="-22859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706" indent="-22859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8892" indent="-22859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077" indent="-228593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5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1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7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42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27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13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99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84" algn="l" defTabSz="91437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sv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1.wdp"/><Relationship Id="rId1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12" Type="http://schemas.openxmlformats.org/officeDocument/2006/relationships/image" Target="../media/image8.png"/><Relationship Id="rId17" Type="http://schemas.openxmlformats.org/officeDocument/2006/relationships/image" Target="../media/image12.png"/><Relationship Id="rId2" Type="http://schemas.openxmlformats.org/officeDocument/2006/relationships/image" Target="../media/image14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7.svg"/><Relationship Id="rId5" Type="http://schemas.openxmlformats.org/officeDocument/2006/relationships/image" Target="../media/image17.png"/><Relationship Id="rId15" Type="http://schemas.openxmlformats.org/officeDocument/2006/relationships/image" Target="../media/image10.png"/><Relationship Id="rId10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2A1B48-424E-40AB-93B3-75277675AB4C}"/>
              </a:ext>
            </a:extLst>
          </p:cNvPr>
          <p:cNvSpPr txBox="1"/>
          <p:nvPr/>
        </p:nvSpPr>
        <p:spPr>
          <a:xfrm>
            <a:off x="611155" y="1025709"/>
            <a:ext cx="8004110" cy="511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○ 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학습 시</a:t>
            </a:r>
            <a:endParaRPr lang="en-US" altLang="ko-KR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200"/>
              </a:lnSpc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GPU 사용률 : 약 35GB</a:t>
            </a:r>
          </a:p>
          <a:p>
            <a:pPr>
              <a:lnSpc>
                <a:spcPts val="2200"/>
              </a:lnSpc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CPU 사용률 : 약 400%~800% (코어 합산 기준)</a:t>
            </a:r>
          </a:p>
          <a:p>
            <a:pPr>
              <a:lnSpc>
                <a:spcPts val="2200"/>
              </a:lnSpc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메모리 : 약 2.8GB</a:t>
            </a:r>
          </a:p>
          <a:p>
            <a:pPr>
              <a:lnSpc>
                <a:spcPts val="1400"/>
              </a:lnSpc>
            </a:pPr>
            <a:endParaRPr lang="en-US" altLang="ko-KR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200"/>
              </a:lnSpc>
            </a:pP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○ 운영 시</a:t>
            </a:r>
            <a:endParaRPr lang="en-US" altLang="ko-KR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200"/>
              </a:lnSpc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GPU 사용률 : 약 4.5GB</a:t>
            </a:r>
          </a:p>
          <a:p>
            <a:pPr>
              <a:lnSpc>
                <a:spcPts val="2200"/>
              </a:lnSpc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CPU 사용률 : 약 150%~350% (코어 합산 기준)</a:t>
            </a:r>
          </a:p>
          <a:p>
            <a:pPr>
              <a:lnSpc>
                <a:spcPts val="2200"/>
              </a:lnSpc>
            </a:pP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메모리 : 약 1.8GB</a:t>
            </a:r>
          </a:p>
          <a:p>
            <a:pPr>
              <a:lnSpc>
                <a:spcPts val="1400"/>
              </a:lnSpc>
            </a:pPr>
            <a:r>
              <a:rPr lang="ko-KR" altLang="en-US" sz="140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200"/>
              </a:lnSpc>
            </a:pP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○ </a:t>
            </a:r>
            <a:r>
              <a:rPr lang="en-US" altLang="ko-KR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Model 파라미터 파일 사이즈</a:t>
            </a:r>
            <a:endParaRPr lang="en-US" altLang="ko-KR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200"/>
              </a:lnSpc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 -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약 700MB~ 1GB (증가 가능성 있음)</a:t>
            </a:r>
            <a:endParaRPr lang="en-US" altLang="ko-KR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200"/>
              </a:lnSpc>
            </a:pPr>
            <a:r>
              <a:rPr lang="en-US" altLang="ko-KR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    ※</a:t>
            </a:r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rPr>
              <a:t>학습 서버에서 운영 서버로 전송량</a:t>
            </a:r>
          </a:p>
          <a:p>
            <a:pPr>
              <a:lnSpc>
                <a:spcPts val="1400"/>
              </a:lnSpc>
            </a:pPr>
            <a:endParaRPr lang="en-US" altLang="ko-KR" sz="140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200"/>
              </a:lnSpc>
            </a:pP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○ 개발 환경</a:t>
            </a:r>
            <a:endParaRPr lang="en-US" altLang="ko-KR" sz="14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2200"/>
              </a:lnSpc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- OS : Ubuntu 22.04.4 LTS (x86_64)</a:t>
            </a:r>
          </a:p>
          <a:p>
            <a:pPr>
              <a:lnSpc>
                <a:spcPts val="2200"/>
              </a:lnSpc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- CPU : Intel Xeon Platinum 8480+ (24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코어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, 2.00GHz)</a:t>
            </a:r>
          </a:p>
          <a:p>
            <a:pPr>
              <a:lnSpc>
                <a:spcPts val="2200"/>
              </a:lnSpc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- GPU : 67TF-H100 (80GB) </a:t>
            </a:r>
          </a:p>
          <a:p>
            <a:pPr>
              <a:lnSpc>
                <a:spcPts val="2200"/>
              </a:lnSpc>
            </a:pP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  - </a:t>
            </a:r>
            <a:r>
              <a:rPr lang="ko-KR" altLang="en-US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메모리</a:t>
            </a:r>
            <a:r>
              <a:rPr lang="en-US" altLang="ko-KR" sz="1200">
                <a:latin typeface="맑은 고딕" panose="020B0503020000020004" pitchFamily="50" charset="-127"/>
                <a:ea typeface="맑은 고딕" panose="020B0503020000020004" pitchFamily="50" charset="-127"/>
              </a:rPr>
              <a:t> : 192GB </a:t>
            </a:r>
            <a:endParaRPr lang="ko-KR" altLang="en-US" sz="120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7268B5-4BC4-4435-A9F7-AFED09C8666B}"/>
              </a:ext>
            </a:extLst>
          </p:cNvPr>
          <p:cNvSpPr txBox="1"/>
          <p:nvPr/>
        </p:nvSpPr>
        <p:spPr>
          <a:xfrm>
            <a:off x="317240" y="391880"/>
            <a:ext cx="3448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영상 분석 </a:t>
            </a:r>
            <a:r>
              <a:rPr lang="en-US" altLang="ko-KR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사용 자원</a:t>
            </a:r>
          </a:p>
        </p:txBody>
      </p:sp>
    </p:spTree>
    <p:extLst>
      <p:ext uri="{BB962C8B-B14F-4D97-AF65-F5344CB8AC3E}">
        <p14:creationId xmlns:p14="http://schemas.microsoft.com/office/powerpoint/2010/main" val="3819354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>
            <a:extLst>
              <a:ext uri="{FF2B5EF4-FFF2-40B4-BE49-F238E27FC236}">
                <a16:creationId xmlns:a16="http://schemas.microsoft.com/office/drawing/2014/main" id="{B98973D9-8B74-417E-90A8-89A9F1D41DE4}"/>
              </a:ext>
            </a:extLst>
          </p:cNvPr>
          <p:cNvSpPr txBox="1"/>
          <p:nvPr/>
        </p:nvSpPr>
        <p:spPr>
          <a:xfrm>
            <a:off x="317240" y="391880"/>
            <a:ext cx="2443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영상 분석 </a:t>
            </a:r>
            <a:r>
              <a:rPr lang="en-US" altLang="ko-KR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0FDB263-33B4-4B49-A605-D3501FA86F81}"/>
              </a:ext>
            </a:extLst>
          </p:cNvPr>
          <p:cNvGrpSpPr/>
          <p:nvPr/>
        </p:nvGrpSpPr>
        <p:grpSpPr>
          <a:xfrm>
            <a:off x="380158" y="830136"/>
            <a:ext cx="9097313" cy="4954847"/>
            <a:chOff x="380158" y="879896"/>
            <a:chExt cx="9097313" cy="5561228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A1B6EC57-86A9-441C-8ED4-87826A4F77CD}"/>
                </a:ext>
              </a:extLst>
            </p:cNvPr>
            <p:cNvSpPr/>
            <p:nvPr/>
          </p:nvSpPr>
          <p:spPr>
            <a:xfrm>
              <a:off x="6199029" y="2192381"/>
              <a:ext cx="644725" cy="526309"/>
            </a:xfrm>
            <a:prstGeom prst="roundRect">
              <a:avLst/>
            </a:prstGeom>
            <a:noFill/>
            <a:ln w="9525">
              <a:solidFill>
                <a:srgbClr val="B4A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이미지</a:t>
              </a:r>
              <a:endPara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증강</a:t>
              </a:r>
            </a:p>
          </p:txBody>
        </p:sp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C2D757EE-FE9D-49EE-8996-4F566A9C4469}"/>
                </a:ext>
              </a:extLst>
            </p:cNvPr>
            <p:cNvSpPr/>
            <p:nvPr/>
          </p:nvSpPr>
          <p:spPr>
            <a:xfrm>
              <a:off x="7117075" y="1611716"/>
              <a:ext cx="676683" cy="781489"/>
            </a:xfrm>
            <a:prstGeom prst="round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914400" rtl="0" eaLnBrk="1" fontAlgn="auto" latinLnBrk="1" hangingPunct="1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Spatial Feature</a:t>
              </a:r>
            </a:p>
            <a:p>
              <a:pPr marL="0" marR="0" lvl="0" indent="0" algn="ctr" defTabSz="914400" rtl="0" eaLnBrk="1" fontAlgn="auto" latinLnBrk="1" hangingPunct="1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(</a:t>
              </a:r>
              <a:r>
                <a:rPr lang="ko-KR" altLang="en-US" sz="8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공간 정보</a:t>
              </a:r>
              <a:r>
                <a:rPr lang="en-US" altLang="ko-KR" sz="8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)</a:t>
              </a:r>
              <a:endPara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DC2C4201-2345-4946-ACB7-0E99163B217D}"/>
                </a:ext>
              </a:extLst>
            </p:cNvPr>
            <p:cNvGrpSpPr/>
            <p:nvPr/>
          </p:nvGrpSpPr>
          <p:grpSpPr>
            <a:xfrm>
              <a:off x="8178791" y="1808186"/>
              <a:ext cx="451122" cy="1411750"/>
              <a:chOff x="7329264" y="2852936"/>
              <a:chExt cx="432048" cy="1352060"/>
            </a:xfrm>
            <a:solidFill>
              <a:srgbClr val="F4CBD8"/>
            </a:solidFill>
          </p:grpSpPr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1226BCDE-7CA2-4B7D-8FE6-6EBB91725925}"/>
                  </a:ext>
                </a:extLst>
              </p:cNvPr>
              <p:cNvSpPr/>
              <p:nvPr/>
            </p:nvSpPr>
            <p:spPr>
              <a:xfrm>
                <a:off x="7329264" y="2852936"/>
                <a:ext cx="432048" cy="1352060"/>
              </a:xfrm>
              <a:prstGeom prst="roundRect">
                <a:avLst/>
              </a:prstGeom>
              <a:grpFill/>
              <a:ln w="9525">
                <a:solidFill>
                  <a:srgbClr val="85D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AFBF53-1464-4E12-8487-A388909C0669}"/>
                  </a:ext>
                </a:extLst>
              </p:cNvPr>
              <p:cNvSpPr txBox="1"/>
              <p:nvPr/>
            </p:nvSpPr>
            <p:spPr>
              <a:xfrm>
                <a:off x="7400019" y="2941713"/>
                <a:ext cx="309501" cy="1130848"/>
              </a:xfrm>
              <a:prstGeom prst="rect">
                <a:avLst/>
              </a:prstGeom>
              <a:grpFill/>
            </p:spPr>
            <p:txBody>
              <a:bodyPr vert="eaVert"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Transformer 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Encoder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49FC2FB4-2F19-4A8C-8C64-0D191B30B956}"/>
                </a:ext>
              </a:extLst>
            </p:cNvPr>
            <p:cNvGrpSpPr/>
            <p:nvPr/>
          </p:nvGrpSpPr>
          <p:grpSpPr>
            <a:xfrm>
              <a:off x="8705628" y="1490636"/>
              <a:ext cx="530921" cy="1729300"/>
              <a:chOff x="7484774" y="4026501"/>
              <a:chExt cx="508473" cy="1656184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AED58F45-0AC4-4A10-BA89-38E9C7CDC775}"/>
                  </a:ext>
                </a:extLst>
              </p:cNvPr>
              <p:cNvSpPr/>
              <p:nvPr/>
            </p:nvSpPr>
            <p:spPr>
              <a:xfrm>
                <a:off x="7689304" y="4365104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935410D8-9A8D-4E04-8B80-AEADF5A8CE18}"/>
                  </a:ext>
                </a:extLst>
              </p:cNvPr>
              <p:cNvSpPr/>
              <p:nvPr/>
            </p:nvSpPr>
            <p:spPr>
              <a:xfrm>
                <a:off x="7689304" y="4555413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DFAC2436-5EA8-472D-978B-5B83CB584E20}"/>
                  </a:ext>
                </a:extLst>
              </p:cNvPr>
              <p:cNvSpPr/>
              <p:nvPr/>
            </p:nvSpPr>
            <p:spPr>
              <a:xfrm>
                <a:off x="7689304" y="4745722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560E4468-4941-4F6C-859C-24A4E7F8756A}"/>
                  </a:ext>
                </a:extLst>
              </p:cNvPr>
              <p:cNvSpPr/>
              <p:nvPr/>
            </p:nvSpPr>
            <p:spPr>
              <a:xfrm>
                <a:off x="7689304" y="4936031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6C4185A8-7D65-4F96-9056-CF39ED28E4C9}"/>
                  </a:ext>
                </a:extLst>
              </p:cNvPr>
              <p:cNvSpPr/>
              <p:nvPr/>
            </p:nvSpPr>
            <p:spPr>
              <a:xfrm>
                <a:off x="7691502" y="5126340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5B6BFBF9-D871-4A31-A1FC-095ADBB22371}"/>
                  </a:ext>
                </a:extLst>
              </p:cNvPr>
              <p:cNvSpPr/>
              <p:nvPr/>
            </p:nvSpPr>
            <p:spPr>
              <a:xfrm>
                <a:off x="7689304" y="5316649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26407A33-9CCE-40F3-A9DD-A248F16E70ED}"/>
                  </a:ext>
                </a:extLst>
              </p:cNvPr>
              <p:cNvSpPr/>
              <p:nvPr/>
            </p:nvSpPr>
            <p:spPr>
              <a:xfrm>
                <a:off x="7689304" y="5506958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6A3045C1-4B24-49B2-B265-72DF057110C5}"/>
                  </a:ext>
                </a:extLst>
              </p:cNvPr>
              <p:cNvSpPr/>
              <p:nvPr/>
            </p:nvSpPr>
            <p:spPr>
              <a:xfrm>
                <a:off x="7598635" y="4293096"/>
                <a:ext cx="288032" cy="1389589"/>
              </a:xfrm>
              <a:prstGeom prst="rect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69E8F0-3C9E-4F10-B157-7501B36DBCA4}"/>
                  </a:ext>
                </a:extLst>
              </p:cNvPr>
              <p:cNvSpPr txBox="1"/>
              <p:nvPr/>
            </p:nvSpPr>
            <p:spPr>
              <a:xfrm>
                <a:off x="7484774" y="4026501"/>
                <a:ext cx="508473" cy="2718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ts val="7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Content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ts val="7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 Query</a:t>
                </a:r>
                <a:endPara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7025AD-D322-4BEA-A151-EFBA917B1921}"/>
                </a:ext>
              </a:extLst>
            </p:cNvPr>
            <p:cNvGrpSpPr/>
            <p:nvPr/>
          </p:nvGrpSpPr>
          <p:grpSpPr>
            <a:xfrm>
              <a:off x="5146412" y="3616621"/>
              <a:ext cx="4137825" cy="1052618"/>
              <a:chOff x="5022574" y="4581128"/>
              <a:chExt cx="3962874" cy="1008112"/>
            </a:xfrm>
          </p:grpSpPr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87725B56-6356-4B29-8306-D3D7F9497809}"/>
                  </a:ext>
                </a:extLst>
              </p:cNvPr>
              <p:cNvSpPr/>
              <p:nvPr/>
            </p:nvSpPr>
            <p:spPr>
              <a:xfrm>
                <a:off x="5809450" y="5157192"/>
                <a:ext cx="1250443" cy="360040"/>
              </a:xfrm>
              <a:prstGeom prst="round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Auxiliary Head 1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F14ED5EC-4981-4E3B-90CA-4DDFB94A499A}"/>
                  </a:ext>
                </a:extLst>
              </p:cNvPr>
              <p:cNvSpPr/>
              <p:nvPr/>
            </p:nvSpPr>
            <p:spPr>
              <a:xfrm rot="16200000">
                <a:off x="6258477" y="4268213"/>
                <a:ext cx="360040" cy="1242798"/>
              </a:xfrm>
              <a:prstGeom prst="roundRect">
                <a:avLst/>
              </a:prstGeom>
              <a:solidFill>
                <a:srgbClr val="F4CBD8"/>
              </a:solidFill>
              <a:ln w="9525">
                <a:solidFill>
                  <a:srgbClr val="85D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7982BEE-84D3-4C65-8C14-0CA0BDD65AF1}"/>
                  </a:ext>
                </a:extLst>
              </p:cNvPr>
              <p:cNvSpPr txBox="1"/>
              <p:nvPr/>
            </p:nvSpPr>
            <p:spPr>
              <a:xfrm>
                <a:off x="5817095" y="4776365"/>
                <a:ext cx="136050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TransformerDecoder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B8C3B0FD-95F1-44C5-8C41-5800BC21DA8F}"/>
                  </a:ext>
                </a:extLst>
              </p:cNvPr>
              <p:cNvSpPr/>
              <p:nvPr/>
            </p:nvSpPr>
            <p:spPr>
              <a:xfrm>
                <a:off x="7516953" y="5172744"/>
                <a:ext cx="1271132" cy="360040"/>
              </a:xfrm>
              <a:prstGeom prst="round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Auxiliary Head N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3636FAF9-88E6-4678-A863-48DC225A5507}"/>
                  </a:ext>
                </a:extLst>
              </p:cNvPr>
              <p:cNvSpPr/>
              <p:nvPr/>
            </p:nvSpPr>
            <p:spPr>
              <a:xfrm rot="16200000">
                <a:off x="7976324" y="4273420"/>
                <a:ext cx="360040" cy="1263487"/>
              </a:xfrm>
              <a:prstGeom prst="roundRect">
                <a:avLst/>
              </a:prstGeom>
              <a:solidFill>
                <a:srgbClr val="F4CBD8"/>
              </a:solidFill>
              <a:ln w="9525">
                <a:solidFill>
                  <a:srgbClr val="85D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982744E-3D0B-4648-90D6-04669030F145}"/>
                  </a:ext>
                </a:extLst>
              </p:cNvPr>
              <p:cNvSpPr txBox="1"/>
              <p:nvPr/>
            </p:nvSpPr>
            <p:spPr>
              <a:xfrm>
                <a:off x="7543259" y="4773255"/>
                <a:ext cx="136050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TransformerDecoder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6B879C1-84D4-44ED-93BB-7855AE38B793}"/>
                  </a:ext>
                </a:extLst>
              </p:cNvPr>
              <p:cNvSpPr txBox="1"/>
              <p:nvPr/>
            </p:nvSpPr>
            <p:spPr>
              <a:xfrm>
                <a:off x="7109921" y="464384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…</a:t>
                </a: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FE28953-8791-40B9-8FBF-CEB9A34D08EF}"/>
                  </a:ext>
                </a:extLst>
              </p:cNvPr>
              <p:cNvSpPr txBox="1"/>
              <p:nvPr/>
            </p:nvSpPr>
            <p:spPr>
              <a:xfrm>
                <a:off x="7106811" y="5095055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…</a:t>
                </a: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6" name="사각형: 둥근 모서리 25">
                <a:extLst>
                  <a:ext uri="{FF2B5EF4-FFF2-40B4-BE49-F238E27FC236}">
                    <a16:creationId xmlns:a16="http://schemas.microsoft.com/office/drawing/2014/main" id="{EDBAE50A-D5E1-44A4-BF29-2424E57CC124}"/>
                  </a:ext>
                </a:extLst>
              </p:cNvPr>
              <p:cNvSpPr/>
              <p:nvPr/>
            </p:nvSpPr>
            <p:spPr>
              <a:xfrm>
                <a:off x="5673080" y="4581128"/>
                <a:ext cx="3312368" cy="1008112"/>
              </a:xfrm>
              <a:prstGeom prst="roundRect">
                <a:avLst>
                  <a:gd name="adj" fmla="val 10017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3D5F589-C1A8-4465-AD85-400C9816CFD0}"/>
                  </a:ext>
                </a:extLst>
              </p:cNvPr>
              <p:cNvSpPr txBox="1"/>
              <p:nvPr/>
            </p:nvSpPr>
            <p:spPr>
              <a:xfrm>
                <a:off x="5022574" y="4777280"/>
                <a:ext cx="54854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[Train]</a:t>
                </a: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86AC616-337E-4C1C-BD4E-0394E7F4E65D}"/>
                </a:ext>
              </a:extLst>
            </p:cNvPr>
            <p:cNvGrpSpPr/>
            <p:nvPr/>
          </p:nvGrpSpPr>
          <p:grpSpPr>
            <a:xfrm>
              <a:off x="5823094" y="5270734"/>
              <a:ext cx="1420570" cy="375935"/>
              <a:chOff x="5726899" y="6165304"/>
              <a:chExt cx="1360507" cy="360040"/>
            </a:xfrm>
          </p:grpSpPr>
          <p:sp>
            <p:nvSpPr>
              <p:cNvPr id="29" name="사각형: 둥근 모서리 28">
                <a:extLst>
                  <a:ext uri="{FF2B5EF4-FFF2-40B4-BE49-F238E27FC236}">
                    <a16:creationId xmlns:a16="http://schemas.microsoft.com/office/drawing/2014/main" id="{9E1DD001-A92B-4310-8C42-36CE4608D5DB}"/>
                  </a:ext>
                </a:extLst>
              </p:cNvPr>
              <p:cNvSpPr/>
              <p:nvPr/>
            </p:nvSpPr>
            <p:spPr>
              <a:xfrm rot="16200000">
                <a:off x="6209319" y="5701073"/>
                <a:ext cx="360040" cy="1288501"/>
              </a:xfrm>
              <a:prstGeom prst="roundRect">
                <a:avLst/>
              </a:prstGeom>
              <a:solidFill>
                <a:srgbClr val="F4CBD8"/>
              </a:solidFill>
              <a:ln w="9525">
                <a:solidFill>
                  <a:srgbClr val="85D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8E178AF-3516-4314-AF67-EDDA0CA22EC2}"/>
                  </a:ext>
                </a:extLst>
              </p:cNvPr>
              <p:cNvSpPr txBox="1"/>
              <p:nvPr/>
            </p:nvSpPr>
            <p:spPr>
              <a:xfrm>
                <a:off x="5726899" y="6236230"/>
                <a:ext cx="136050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TransformerDecoder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E5E7AEC4-9191-4258-B80E-E508F0F25B1B}"/>
                </a:ext>
              </a:extLst>
            </p:cNvPr>
            <p:cNvCxnSpPr>
              <a:cxnSpLocks/>
            </p:cNvCxnSpPr>
            <p:nvPr/>
          </p:nvCxnSpPr>
          <p:spPr>
            <a:xfrm>
              <a:off x="6040396" y="2446463"/>
              <a:ext cx="1503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AFE2D88D-13B4-4574-8EE3-874AAD352425}"/>
                </a:ext>
              </a:extLst>
            </p:cNvPr>
            <p:cNvCxnSpPr>
              <a:cxnSpLocks/>
            </p:cNvCxnSpPr>
            <p:nvPr/>
          </p:nvCxnSpPr>
          <p:spPr>
            <a:xfrm>
              <a:off x="6855521" y="2449711"/>
              <a:ext cx="1503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CADC9516-8454-498A-9C0A-69AF398EA506}"/>
                </a:ext>
              </a:extLst>
            </p:cNvPr>
            <p:cNvCxnSpPr>
              <a:cxnSpLocks/>
            </p:cNvCxnSpPr>
            <p:nvPr/>
          </p:nvCxnSpPr>
          <p:spPr>
            <a:xfrm>
              <a:off x="7979561" y="2452958"/>
              <a:ext cx="180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2BB46B7D-C8E2-4C23-8C3B-6FBE21D24510}"/>
                </a:ext>
              </a:extLst>
            </p:cNvPr>
            <p:cNvCxnSpPr>
              <a:cxnSpLocks/>
            </p:cNvCxnSpPr>
            <p:nvPr/>
          </p:nvCxnSpPr>
          <p:spPr>
            <a:xfrm>
              <a:off x="8671282" y="2468067"/>
              <a:ext cx="15037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연결선: 꺾임 40">
              <a:extLst>
                <a:ext uri="{FF2B5EF4-FFF2-40B4-BE49-F238E27FC236}">
                  <a16:creationId xmlns:a16="http://schemas.microsoft.com/office/drawing/2014/main" id="{A39E3230-5FB1-4CE3-B151-90A73A7A3D37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 flipH="1">
              <a:off x="5146412" y="2494468"/>
              <a:ext cx="3978852" cy="947027"/>
            </a:xfrm>
            <a:prstGeom prst="bentConnector3">
              <a:avLst>
                <a:gd name="adj1" fmla="val -5745"/>
              </a:avLst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F85AB0CD-B08F-4F46-B028-D19E6A086CA0}"/>
                </a:ext>
              </a:extLst>
            </p:cNvPr>
            <p:cNvCxnSpPr>
              <a:cxnSpLocks/>
            </p:cNvCxnSpPr>
            <p:nvPr/>
          </p:nvCxnSpPr>
          <p:spPr>
            <a:xfrm>
              <a:off x="5146412" y="3445497"/>
              <a:ext cx="0" cy="1992234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9762080F-FFE6-470A-9CF4-4BAF0D88FC2E}"/>
                </a:ext>
              </a:extLst>
            </p:cNvPr>
            <p:cNvCxnSpPr/>
            <p:nvPr/>
          </p:nvCxnSpPr>
          <p:spPr>
            <a:xfrm>
              <a:off x="5146412" y="4122180"/>
              <a:ext cx="526309" cy="0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BAD5B543-9E05-49C3-8FA9-6BDEFE71B56B}"/>
                </a:ext>
              </a:extLst>
            </p:cNvPr>
            <p:cNvCxnSpPr/>
            <p:nvPr/>
          </p:nvCxnSpPr>
          <p:spPr>
            <a:xfrm>
              <a:off x="5143659" y="5434097"/>
              <a:ext cx="526309" cy="0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5C45E2E-1110-410F-BE0F-D50F8C8C0D05}"/>
                </a:ext>
              </a:extLst>
            </p:cNvPr>
            <p:cNvSpPr txBox="1"/>
            <p:nvPr/>
          </p:nvSpPr>
          <p:spPr>
            <a:xfrm>
              <a:off x="5071225" y="5099611"/>
              <a:ext cx="884087" cy="25709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[Prediction]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C3EC21F0-9CAC-4798-B3DF-24B2E86331B3}"/>
                </a:ext>
              </a:extLst>
            </p:cNvPr>
            <p:cNvCxnSpPr/>
            <p:nvPr/>
          </p:nvCxnSpPr>
          <p:spPr>
            <a:xfrm>
              <a:off x="7176460" y="5469821"/>
              <a:ext cx="30071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4C7465E-7D82-414D-85EA-1BC7BACA2E8C}"/>
                </a:ext>
              </a:extLst>
            </p:cNvPr>
            <p:cNvSpPr txBox="1"/>
            <p:nvPr/>
          </p:nvSpPr>
          <p:spPr>
            <a:xfrm>
              <a:off x="5807351" y="4702702"/>
              <a:ext cx="1193734" cy="192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※ 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자체 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Loss Function 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적용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26AA62E2-A958-4A2E-93B0-5320E3C65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77208" y="4891783"/>
              <a:ext cx="2000263" cy="1204712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54640C4-4BB7-4444-BD8C-22C3BA1557DC}"/>
                </a:ext>
              </a:extLst>
            </p:cNvPr>
            <p:cNvSpPr txBox="1"/>
            <p:nvPr/>
          </p:nvSpPr>
          <p:spPr>
            <a:xfrm>
              <a:off x="6160125" y="2737733"/>
              <a:ext cx="743489" cy="2892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※ 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자체 </a:t>
              </a:r>
              <a:r>
                <a:rPr lang="ko-KR" altLang="en-US" sz="60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이미지 </a:t>
              </a:r>
              <a:endParaRPr lang="en-US" altLang="ko-KR" sz="6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   </a:t>
              </a:r>
              <a:r>
                <a:rPr lang="ko-KR" altLang="en-US" sz="60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증강 기술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73" name="그룹 72">
              <a:extLst>
                <a:ext uri="{FF2B5EF4-FFF2-40B4-BE49-F238E27FC236}">
                  <a16:creationId xmlns:a16="http://schemas.microsoft.com/office/drawing/2014/main" id="{2455F94C-A711-43DC-83EE-098E8E30EA05}"/>
                </a:ext>
              </a:extLst>
            </p:cNvPr>
            <p:cNvGrpSpPr/>
            <p:nvPr/>
          </p:nvGrpSpPr>
          <p:grpSpPr>
            <a:xfrm>
              <a:off x="5161049" y="1612202"/>
              <a:ext cx="896284" cy="1762056"/>
              <a:chOff x="841472" y="1237895"/>
              <a:chExt cx="1081832" cy="2126837"/>
            </a:xfrm>
          </p:grpSpPr>
          <p:pic>
            <p:nvPicPr>
              <p:cNvPr id="32" name="Picture 4">
                <a:extLst>
                  <a:ext uri="{FF2B5EF4-FFF2-40B4-BE49-F238E27FC236}">
                    <a16:creationId xmlns:a16="http://schemas.microsoft.com/office/drawing/2014/main" id="{83241E4F-03B1-4349-B299-3B91C77EFAA0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1621" y="1237895"/>
                <a:ext cx="925569" cy="54445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F1264329-7569-4CD9-902C-7F310BDDBCF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1055" y="1940636"/>
                <a:ext cx="939181" cy="544452"/>
              </a:xfrm>
              <a:prstGeom prst="rect">
                <a:avLst/>
              </a:prstGeom>
            </p:spPr>
          </p:pic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61CBDD53-1B83-48A5-83F4-093ACA8FC7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17849" y="1525831"/>
                <a:ext cx="0" cy="1470037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4CF9AD86-BF90-438E-8F16-1C03B62FA547}"/>
                  </a:ext>
                </a:extLst>
              </p:cNvPr>
              <p:cNvCxnSpPr>
                <a:stCxn id="32" idx="3"/>
              </p:cNvCxnSpPr>
              <p:nvPr/>
            </p:nvCxnSpPr>
            <p:spPr>
              <a:xfrm>
                <a:off x="1787191" y="1510121"/>
                <a:ext cx="136113" cy="30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C64CE9D8-8032-4A97-81F0-BF1BEA1EC064}"/>
                  </a:ext>
                </a:extLst>
              </p:cNvPr>
              <p:cNvCxnSpPr/>
              <p:nvPr/>
            </p:nvCxnSpPr>
            <p:spPr>
              <a:xfrm>
                <a:off x="1769143" y="2236138"/>
                <a:ext cx="136113" cy="30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34528C5E-AABD-4AD3-B83C-2E6B6731C51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1506"/>
              <a:stretch/>
            </p:blipFill>
            <p:spPr>
              <a:xfrm flipH="1">
                <a:off x="841472" y="2638987"/>
                <a:ext cx="945717" cy="494888"/>
              </a:xfrm>
              <a:prstGeom prst="rect">
                <a:avLst/>
              </a:prstGeom>
            </p:spPr>
          </p:pic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CB461627-0290-4707-B4CB-C7ECE2FE5300}"/>
                  </a:ext>
                </a:extLst>
              </p:cNvPr>
              <p:cNvSpPr txBox="1"/>
              <p:nvPr/>
            </p:nvSpPr>
            <p:spPr>
              <a:xfrm>
                <a:off x="1324418" y="1709744"/>
                <a:ext cx="501128" cy="291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EO</a:t>
                </a:r>
                <a:endParaRPr lang="ko-KR" altLang="en-US" sz="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1C3CB813-EA5A-428A-B2CD-22C1A8A5F25D}"/>
                  </a:ext>
                </a:extLst>
              </p:cNvPr>
              <p:cNvSpPr txBox="1"/>
              <p:nvPr/>
            </p:nvSpPr>
            <p:spPr>
              <a:xfrm>
                <a:off x="1444049" y="2423948"/>
                <a:ext cx="381498" cy="291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IR</a:t>
                </a:r>
                <a:endParaRPr lang="ko-KR" altLang="en-US" sz="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1291EAE3-CA95-4957-A86C-157B8CF78B90}"/>
                  </a:ext>
                </a:extLst>
              </p:cNvPr>
              <p:cNvSpPr txBox="1"/>
              <p:nvPr/>
            </p:nvSpPr>
            <p:spPr>
              <a:xfrm>
                <a:off x="1324418" y="3072862"/>
                <a:ext cx="501128" cy="2918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800" b="1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SAR</a:t>
                </a:r>
                <a:endParaRPr lang="ko-KR" altLang="en-US" sz="800" b="1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cxnSp>
            <p:nvCxnSpPr>
              <p:cNvPr id="67" name="직선 연결선 66">
                <a:extLst>
                  <a:ext uri="{FF2B5EF4-FFF2-40B4-BE49-F238E27FC236}">
                    <a16:creationId xmlns:a16="http://schemas.microsoft.com/office/drawing/2014/main" id="{8ECB2F92-71C1-4A7E-ABCC-5B8087978F7A}"/>
                  </a:ext>
                </a:extLst>
              </p:cNvPr>
              <p:cNvCxnSpPr/>
              <p:nvPr/>
            </p:nvCxnSpPr>
            <p:spPr>
              <a:xfrm>
                <a:off x="1769143" y="2995868"/>
                <a:ext cx="136113" cy="30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A1B6EC57-86A9-441C-8ED4-87826A4F77CD}"/>
                </a:ext>
              </a:extLst>
            </p:cNvPr>
            <p:cNvSpPr/>
            <p:nvPr/>
          </p:nvSpPr>
          <p:spPr>
            <a:xfrm>
              <a:off x="1460278" y="2357451"/>
              <a:ext cx="617466" cy="504056"/>
            </a:xfrm>
            <a:prstGeom prst="roundRect">
              <a:avLst/>
            </a:prstGeom>
            <a:noFill/>
            <a:ln w="9525">
              <a:solidFill>
                <a:srgbClr val="B4A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이미지</a:t>
              </a:r>
              <a:endParaRPr kumimoji="0" lang="en-US" altLang="ko-KR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증강</a:t>
              </a: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C2D757EE-FE9D-49EE-8996-4F566A9C4469}"/>
                </a:ext>
              </a:extLst>
            </p:cNvPr>
            <p:cNvSpPr/>
            <p:nvPr/>
          </p:nvSpPr>
          <p:spPr>
            <a:xfrm>
              <a:off x="2252366" y="2357451"/>
              <a:ext cx="648072" cy="504056"/>
            </a:xfrm>
            <a:prstGeom prst="roundRect">
              <a:avLst/>
            </a:prstGeom>
            <a:noFill/>
            <a:ln w="9525">
              <a:solidFill>
                <a:srgbClr val="B4A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Feature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Extraction</a:t>
              </a: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DC2C4201-2345-4946-ACB7-0E99163B217D}"/>
                </a:ext>
              </a:extLst>
            </p:cNvPr>
            <p:cNvGrpSpPr/>
            <p:nvPr/>
          </p:nvGrpSpPr>
          <p:grpSpPr>
            <a:xfrm>
              <a:off x="3116462" y="1989500"/>
              <a:ext cx="432048" cy="1352060"/>
              <a:chOff x="7329264" y="2852936"/>
              <a:chExt cx="432048" cy="1352060"/>
            </a:xfrm>
            <a:solidFill>
              <a:srgbClr val="F4CBD8"/>
            </a:solidFill>
          </p:grpSpPr>
          <p:sp>
            <p:nvSpPr>
              <p:cNvPr id="114" name="사각형: 둥근 모서리 113">
                <a:extLst>
                  <a:ext uri="{FF2B5EF4-FFF2-40B4-BE49-F238E27FC236}">
                    <a16:creationId xmlns:a16="http://schemas.microsoft.com/office/drawing/2014/main" id="{1226BCDE-7CA2-4B7D-8FE6-6EBB91725925}"/>
                  </a:ext>
                </a:extLst>
              </p:cNvPr>
              <p:cNvSpPr/>
              <p:nvPr/>
            </p:nvSpPr>
            <p:spPr>
              <a:xfrm>
                <a:off x="7329264" y="2852936"/>
                <a:ext cx="432048" cy="1352060"/>
              </a:xfrm>
              <a:prstGeom prst="roundRect">
                <a:avLst/>
              </a:prstGeom>
              <a:grpFill/>
              <a:ln w="9525">
                <a:solidFill>
                  <a:srgbClr val="85D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5" name="TextBox 5">
                <a:extLst>
                  <a:ext uri="{FF2B5EF4-FFF2-40B4-BE49-F238E27FC236}">
                    <a16:creationId xmlns:a16="http://schemas.microsoft.com/office/drawing/2014/main" id="{16AFBF53-1464-4E12-8487-A388909C0669}"/>
                  </a:ext>
                </a:extLst>
              </p:cNvPr>
              <p:cNvSpPr txBox="1"/>
              <p:nvPr/>
            </p:nvSpPr>
            <p:spPr>
              <a:xfrm>
                <a:off x="7386356" y="2941713"/>
                <a:ext cx="323165" cy="1180772"/>
              </a:xfrm>
              <a:prstGeom prst="rect">
                <a:avLst/>
              </a:prstGeom>
              <a:grpFill/>
            </p:spPr>
            <p:txBody>
              <a:bodyPr vert="eaVert"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Tran</a:t>
                </a:r>
                <a:r>
                  <a:rPr lang="en-US" altLang="ko-KR" sz="900" dirty="0">
                    <a:solidFill>
                      <a:prstClr val="black"/>
                    </a:solidFill>
                    <a:latin typeface="맑은 고딕"/>
                    <a:ea typeface="맑은 고딕" panose="020B0503020000020004" pitchFamily="50" charset="-127"/>
                  </a:rPr>
                  <a:t>s</a:t>
                </a:r>
                <a:r>
                  <a:rPr kumimoji="0" lang="en-US" altLang="ko-KR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former Encoder</a:t>
                </a:r>
                <a:endPara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49FC2FB4-2F19-4A8C-8C64-0D191B30B956}"/>
                </a:ext>
              </a:extLst>
            </p:cNvPr>
            <p:cNvGrpSpPr/>
            <p:nvPr/>
          </p:nvGrpSpPr>
          <p:grpSpPr>
            <a:xfrm>
              <a:off x="3692526" y="1685376"/>
              <a:ext cx="508473" cy="1656184"/>
              <a:chOff x="7484774" y="4026501"/>
              <a:chExt cx="508473" cy="1656184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AED58F45-0AC4-4A10-BA89-38E9C7CDC775}"/>
                  </a:ext>
                </a:extLst>
              </p:cNvPr>
              <p:cNvSpPr/>
              <p:nvPr/>
            </p:nvSpPr>
            <p:spPr>
              <a:xfrm>
                <a:off x="7689304" y="4365104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935410D8-9A8D-4E04-8B80-AEADF5A8CE18}"/>
                  </a:ext>
                </a:extLst>
              </p:cNvPr>
              <p:cNvSpPr/>
              <p:nvPr/>
            </p:nvSpPr>
            <p:spPr>
              <a:xfrm>
                <a:off x="7689304" y="4555413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DFAC2436-5EA8-472D-978B-5B83CB584E20}"/>
                  </a:ext>
                </a:extLst>
              </p:cNvPr>
              <p:cNvSpPr/>
              <p:nvPr/>
            </p:nvSpPr>
            <p:spPr>
              <a:xfrm>
                <a:off x="7689304" y="4745722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560E4468-4941-4F6C-859C-24A4E7F8756A}"/>
                  </a:ext>
                </a:extLst>
              </p:cNvPr>
              <p:cNvSpPr/>
              <p:nvPr/>
            </p:nvSpPr>
            <p:spPr>
              <a:xfrm>
                <a:off x="7689304" y="4936031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6C4185A8-7D65-4F96-9056-CF39ED28E4C9}"/>
                  </a:ext>
                </a:extLst>
              </p:cNvPr>
              <p:cNvSpPr/>
              <p:nvPr/>
            </p:nvSpPr>
            <p:spPr>
              <a:xfrm>
                <a:off x="7691502" y="5126340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5B6BFBF9-D871-4A31-A1FC-095ADBB22371}"/>
                  </a:ext>
                </a:extLst>
              </p:cNvPr>
              <p:cNvSpPr/>
              <p:nvPr/>
            </p:nvSpPr>
            <p:spPr>
              <a:xfrm>
                <a:off x="7689304" y="5316649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26407A33-9CCE-40F3-A9DD-A248F16E70ED}"/>
                  </a:ext>
                </a:extLst>
              </p:cNvPr>
              <p:cNvSpPr/>
              <p:nvPr/>
            </p:nvSpPr>
            <p:spPr>
              <a:xfrm>
                <a:off x="7689304" y="5506958"/>
                <a:ext cx="108000" cy="108000"/>
              </a:xfrm>
              <a:prstGeom prst="rect">
                <a:avLst/>
              </a:prstGeom>
              <a:solidFill>
                <a:srgbClr val="B4AED5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6A3045C1-4B24-49B2-B265-72DF057110C5}"/>
                  </a:ext>
                </a:extLst>
              </p:cNvPr>
              <p:cNvSpPr/>
              <p:nvPr/>
            </p:nvSpPr>
            <p:spPr>
              <a:xfrm>
                <a:off x="7598635" y="4293096"/>
                <a:ext cx="288032" cy="1389589"/>
              </a:xfrm>
              <a:prstGeom prst="rect">
                <a:avLst/>
              </a:prstGeom>
              <a:noFill/>
              <a:ln w="9525">
                <a:solidFill>
                  <a:schemeClr val="tx1">
                    <a:lumMod val="75000"/>
                    <a:lumOff val="25000"/>
                  </a:schemeClr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3" name="TextBox 15">
                <a:extLst>
                  <a:ext uri="{FF2B5EF4-FFF2-40B4-BE49-F238E27FC236}">
                    <a16:creationId xmlns:a16="http://schemas.microsoft.com/office/drawing/2014/main" id="{B969E8F0-3C9E-4F10-B157-7501B36DBCA4}"/>
                  </a:ext>
                </a:extLst>
              </p:cNvPr>
              <p:cNvSpPr txBox="1"/>
              <p:nvPr/>
            </p:nvSpPr>
            <p:spPr>
              <a:xfrm>
                <a:off x="7484774" y="4026501"/>
                <a:ext cx="508473" cy="2718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ts val="7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Content</a:t>
                </a:r>
              </a:p>
              <a:p>
                <a:pPr marL="0" marR="0" lvl="0" indent="0" algn="l" defTabSz="914400" rtl="0" eaLnBrk="1" fontAlgn="auto" latinLnBrk="1" hangingPunct="1">
                  <a:lnSpc>
                    <a:spcPts val="7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7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 Query</a:t>
                </a:r>
                <a:endParaRPr kumimoji="0" lang="ko-KR" altLang="en-US" sz="7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A97025AD-D322-4BEA-A151-EFBA917B1921}"/>
                </a:ext>
              </a:extLst>
            </p:cNvPr>
            <p:cNvGrpSpPr/>
            <p:nvPr/>
          </p:nvGrpSpPr>
          <p:grpSpPr>
            <a:xfrm>
              <a:off x="452166" y="3721472"/>
              <a:ext cx="3962874" cy="1008112"/>
              <a:chOff x="5022574" y="4581128"/>
              <a:chExt cx="3962874" cy="1008112"/>
            </a:xfrm>
          </p:grpSpPr>
          <p:sp>
            <p:nvSpPr>
              <p:cNvPr id="95" name="사각형: 둥근 모서리 94">
                <a:extLst>
                  <a:ext uri="{FF2B5EF4-FFF2-40B4-BE49-F238E27FC236}">
                    <a16:creationId xmlns:a16="http://schemas.microsoft.com/office/drawing/2014/main" id="{87725B56-6356-4B29-8306-D3D7F9497809}"/>
                  </a:ext>
                </a:extLst>
              </p:cNvPr>
              <p:cNvSpPr/>
              <p:nvPr/>
            </p:nvSpPr>
            <p:spPr>
              <a:xfrm>
                <a:off x="5809450" y="5157192"/>
                <a:ext cx="1250443" cy="360040"/>
              </a:xfrm>
              <a:prstGeom prst="round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Auxiliary Head 1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6" name="사각형: 둥근 모서리 95">
                <a:extLst>
                  <a:ext uri="{FF2B5EF4-FFF2-40B4-BE49-F238E27FC236}">
                    <a16:creationId xmlns:a16="http://schemas.microsoft.com/office/drawing/2014/main" id="{F14ED5EC-4981-4E3B-90CA-4DDFB94A499A}"/>
                  </a:ext>
                </a:extLst>
              </p:cNvPr>
              <p:cNvSpPr/>
              <p:nvPr/>
            </p:nvSpPr>
            <p:spPr>
              <a:xfrm rot="16200000">
                <a:off x="6258477" y="4268213"/>
                <a:ext cx="360040" cy="1242798"/>
              </a:xfrm>
              <a:prstGeom prst="roundRect">
                <a:avLst/>
              </a:prstGeom>
              <a:solidFill>
                <a:srgbClr val="F4CBD8"/>
              </a:solidFill>
              <a:ln w="9525">
                <a:solidFill>
                  <a:srgbClr val="85D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7" name="TextBox 19">
                <a:extLst>
                  <a:ext uri="{FF2B5EF4-FFF2-40B4-BE49-F238E27FC236}">
                    <a16:creationId xmlns:a16="http://schemas.microsoft.com/office/drawing/2014/main" id="{E7982BEE-84D3-4C65-8C14-0CA0BDD65AF1}"/>
                  </a:ext>
                </a:extLst>
              </p:cNvPr>
              <p:cNvSpPr txBox="1"/>
              <p:nvPr/>
            </p:nvSpPr>
            <p:spPr>
              <a:xfrm>
                <a:off x="5817095" y="4776365"/>
                <a:ext cx="136050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TransformerDecoder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id="{B8C3B0FD-95F1-44C5-8C41-5800BC21DA8F}"/>
                  </a:ext>
                </a:extLst>
              </p:cNvPr>
              <p:cNvSpPr/>
              <p:nvPr/>
            </p:nvSpPr>
            <p:spPr>
              <a:xfrm>
                <a:off x="7516953" y="5172744"/>
                <a:ext cx="1271132" cy="360040"/>
              </a:xfrm>
              <a:prstGeom prst="roundRect">
                <a:avLst/>
              </a:prstGeom>
              <a:no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Auxiliary Head N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9" name="사각형: 둥근 모서리 98">
                <a:extLst>
                  <a:ext uri="{FF2B5EF4-FFF2-40B4-BE49-F238E27FC236}">
                    <a16:creationId xmlns:a16="http://schemas.microsoft.com/office/drawing/2014/main" id="{3636FAF9-88E6-4678-A863-48DC225A5507}"/>
                  </a:ext>
                </a:extLst>
              </p:cNvPr>
              <p:cNvSpPr/>
              <p:nvPr/>
            </p:nvSpPr>
            <p:spPr>
              <a:xfrm rot="16200000">
                <a:off x="7976324" y="4273420"/>
                <a:ext cx="360040" cy="1263487"/>
              </a:xfrm>
              <a:prstGeom prst="roundRect">
                <a:avLst/>
              </a:prstGeom>
              <a:solidFill>
                <a:srgbClr val="F4CBD8"/>
              </a:solidFill>
              <a:ln w="9525">
                <a:solidFill>
                  <a:srgbClr val="85D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0" name="TextBox 22">
                <a:extLst>
                  <a:ext uri="{FF2B5EF4-FFF2-40B4-BE49-F238E27FC236}">
                    <a16:creationId xmlns:a16="http://schemas.microsoft.com/office/drawing/2014/main" id="{7982744E-3D0B-4648-90D6-04669030F145}"/>
                  </a:ext>
                </a:extLst>
              </p:cNvPr>
              <p:cNvSpPr txBox="1"/>
              <p:nvPr/>
            </p:nvSpPr>
            <p:spPr>
              <a:xfrm>
                <a:off x="7543259" y="4773255"/>
                <a:ext cx="136050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TransformerDecoder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1" name="TextBox 23">
                <a:extLst>
                  <a:ext uri="{FF2B5EF4-FFF2-40B4-BE49-F238E27FC236}">
                    <a16:creationId xmlns:a16="http://schemas.microsoft.com/office/drawing/2014/main" id="{96B879C1-84D4-44ED-93BB-7855AE38B793}"/>
                  </a:ext>
                </a:extLst>
              </p:cNvPr>
              <p:cNvSpPr txBox="1"/>
              <p:nvPr/>
            </p:nvSpPr>
            <p:spPr>
              <a:xfrm>
                <a:off x="7109921" y="464384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…</a:t>
                </a: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2" name="TextBox 24">
                <a:extLst>
                  <a:ext uri="{FF2B5EF4-FFF2-40B4-BE49-F238E27FC236}">
                    <a16:creationId xmlns:a16="http://schemas.microsoft.com/office/drawing/2014/main" id="{DFE28953-8791-40B9-8FBF-CEB9A34D08EF}"/>
                  </a:ext>
                </a:extLst>
              </p:cNvPr>
              <p:cNvSpPr txBox="1"/>
              <p:nvPr/>
            </p:nvSpPr>
            <p:spPr>
              <a:xfrm>
                <a:off x="7106811" y="5095055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…</a:t>
                </a: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사각형: 둥근 모서리 102">
                <a:extLst>
                  <a:ext uri="{FF2B5EF4-FFF2-40B4-BE49-F238E27FC236}">
                    <a16:creationId xmlns:a16="http://schemas.microsoft.com/office/drawing/2014/main" id="{EDBAE50A-D5E1-44A4-BF29-2424E57CC124}"/>
                  </a:ext>
                </a:extLst>
              </p:cNvPr>
              <p:cNvSpPr/>
              <p:nvPr/>
            </p:nvSpPr>
            <p:spPr>
              <a:xfrm>
                <a:off x="5673080" y="4581128"/>
                <a:ext cx="3312368" cy="1008112"/>
              </a:xfrm>
              <a:prstGeom prst="roundRect">
                <a:avLst>
                  <a:gd name="adj" fmla="val 10017"/>
                </a:avLst>
              </a:prstGeom>
              <a:noFill/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4" name="TextBox 26">
                <a:extLst>
                  <a:ext uri="{FF2B5EF4-FFF2-40B4-BE49-F238E27FC236}">
                    <a16:creationId xmlns:a16="http://schemas.microsoft.com/office/drawing/2014/main" id="{A3D5F589-C1A8-4465-AD85-400C9816CFD0}"/>
                  </a:ext>
                </a:extLst>
              </p:cNvPr>
              <p:cNvSpPr txBox="1"/>
              <p:nvPr/>
            </p:nvSpPr>
            <p:spPr>
              <a:xfrm>
                <a:off x="5022574" y="4777280"/>
                <a:ext cx="54854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[Train]</a:t>
                </a:r>
                <a:endParaRPr kumimoji="0" lang="ko-KR" alt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:a16="http://schemas.microsoft.com/office/drawing/2014/main" id="{986AC616-337E-4C1C-BD4E-0394E7F4E65D}"/>
                </a:ext>
              </a:extLst>
            </p:cNvPr>
            <p:cNvGrpSpPr/>
            <p:nvPr/>
          </p:nvGrpSpPr>
          <p:grpSpPr>
            <a:xfrm>
              <a:off x="1100238" y="5305648"/>
              <a:ext cx="1360507" cy="360040"/>
              <a:chOff x="5726899" y="6165304"/>
              <a:chExt cx="1360507" cy="360040"/>
            </a:xfrm>
          </p:grpSpPr>
          <p:sp>
            <p:nvSpPr>
              <p:cNvPr id="93" name="사각형: 둥근 모서리 92">
                <a:extLst>
                  <a:ext uri="{FF2B5EF4-FFF2-40B4-BE49-F238E27FC236}">
                    <a16:creationId xmlns:a16="http://schemas.microsoft.com/office/drawing/2014/main" id="{9E1DD001-A92B-4310-8C42-36CE4608D5DB}"/>
                  </a:ext>
                </a:extLst>
              </p:cNvPr>
              <p:cNvSpPr/>
              <p:nvPr/>
            </p:nvSpPr>
            <p:spPr>
              <a:xfrm rot="16200000">
                <a:off x="6209319" y="5701073"/>
                <a:ext cx="360040" cy="1288501"/>
              </a:xfrm>
              <a:prstGeom prst="roundRect">
                <a:avLst/>
              </a:prstGeom>
              <a:solidFill>
                <a:srgbClr val="F4CBD8"/>
              </a:solidFill>
              <a:ln w="9525">
                <a:solidFill>
                  <a:srgbClr val="85D9FE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4" name="TextBox 29">
                <a:extLst>
                  <a:ext uri="{FF2B5EF4-FFF2-40B4-BE49-F238E27FC236}">
                    <a16:creationId xmlns:a16="http://schemas.microsoft.com/office/drawing/2014/main" id="{08E178AF-3516-4314-AF67-EDDA0CA22EC2}"/>
                  </a:ext>
                </a:extLst>
              </p:cNvPr>
              <p:cNvSpPr txBox="1"/>
              <p:nvPr/>
            </p:nvSpPr>
            <p:spPr>
              <a:xfrm>
                <a:off x="5726899" y="6236230"/>
                <a:ext cx="1360507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/>
                    <a:ea typeface="맑은 고딕" panose="020B0503020000020004" pitchFamily="50" charset="-127"/>
                    <a:cs typeface="+mn-cs"/>
                  </a:rPr>
                  <a:t>TransformerDecoder</a:t>
                </a:r>
                <a:endParaRPr kumimoji="0" lang="ko-KR" altLang="en-US" sz="9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id="{CD6FD6F6-318F-4F5D-BE47-AE47D5B29C64}"/>
                </a:ext>
              </a:extLst>
            </p:cNvPr>
            <p:cNvGrpSpPr/>
            <p:nvPr/>
          </p:nvGrpSpPr>
          <p:grpSpPr>
            <a:xfrm>
              <a:off x="432626" y="2069419"/>
              <a:ext cx="861940" cy="984109"/>
              <a:chOff x="5005468" y="2852936"/>
              <a:chExt cx="861940" cy="984109"/>
            </a:xfrm>
          </p:grpSpPr>
          <p:pic>
            <p:nvPicPr>
              <p:cNvPr id="88" name="Picture 4">
                <a:extLst>
                  <a:ext uri="{FF2B5EF4-FFF2-40B4-BE49-F238E27FC236}">
                    <a16:creationId xmlns:a16="http://schemas.microsoft.com/office/drawing/2014/main" id="{83241E4F-03B1-4349-B299-3B91C77EFAA0}"/>
                  </a:ext>
                </a:extLst>
              </p:cNvPr>
              <p:cNvPicPr preferRelativeResize="0"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025008" y="2852936"/>
                <a:ext cx="734400" cy="4320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9" name="그림 88">
                <a:extLst>
                  <a:ext uri="{FF2B5EF4-FFF2-40B4-BE49-F238E27FC236}">
                    <a16:creationId xmlns:a16="http://schemas.microsoft.com/office/drawing/2014/main" id="{F1264329-7569-4CD9-902C-7F310BDDBCFC}"/>
                  </a:ext>
                </a:extLst>
              </p:cNvPr>
              <p:cNvPicPr preferRelativeResize="0">
                <a:picLocks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05468" y="3405045"/>
                <a:ext cx="745200" cy="432000"/>
              </a:xfrm>
              <a:prstGeom prst="rect">
                <a:avLst/>
              </a:prstGeom>
            </p:spPr>
          </p:pic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61CBDD53-1B83-48A5-83F4-093ACA8FC70D}"/>
                  </a:ext>
                </a:extLst>
              </p:cNvPr>
              <p:cNvCxnSpPr/>
              <p:nvPr/>
            </p:nvCxnSpPr>
            <p:spPr>
              <a:xfrm>
                <a:off x="5866859" y="3081401"/>
                <a:ext cx="0" cy="576064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4CF9AD86-BF90-438E-8F16-1C03B62FA547}"/>
                  </a:ext>
                </a:extLst>
              </p:cNvPr>
              <p:cNvCxnSpPr>
                <a:stCxn id="88" idx="3"/>
              </p:cNvCxnSpPr>
              <p:nvPr/>
            </p:nvCxnSpPr>
            <p:spPr>
              <a:xfrm>
                <a:off x="5759408" y="3068936"/>
                <a:ext cx="108000" cy="24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C64CE9D8-8032-4A97-81F0-BF1BEA1EC064}"/>
                  </a:ext>
                </a:extLst>
              </p:cNvPr>
              <p:cNvCxnSpPr/>
              <p:nvPr/>
            </p:nvCxnSpPr>
            <p:spPr>
              <a:xfrm>
                <a:off x="5745088" y="3645000"/>
                <a:ext cx="108000" cy="24"/>
              </a:xfrm>
              <a:prstGeom prst="line">
                <a:avLst/>
              </a:prstGeom>
              <a:ln w="63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5" name="직선 화살표 연결선 74">
              <a:extLst>
                <a:ext uri="{FF2B5EF4-FFF2-40B4-BE49-F238E27FC236}">
                  <a16:creationId xmlns:a16="http://schemas.microsoft.com/office/drawing/2014/main" id="{E5E7AEC4-9191-4258-B80E-E508F0F25B1B}"/>
                </a:ext>
              </a:extLst>
            </p:cNvPr>
            <p:cNvCxnSpPr>
              <a:cxnSpLocks/>
            </p:cNvCxnSpPr>
            <p:nvPr/>
          </p:nvCxnSpPr>
          <p:spPr>
            <a:xfrm>
              <a:off x="1308351" y="2600790"/>
              <a:ext cx="1440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AFE2D88D-13B4-4574-8EE3-874AAD352425}"/>
                </a:ext>
              </a:extLst>
            </p:cNvPr>
            <p:cNvCxnSpPr>
              <a:cxnSpLocks/>
            </p:cNvCxnSpPr>
            <p:nvPr/>
          </p:nvCxnSpPr>
          <p:spPr>
            <a:xfrm>
              <a:off x="2089012" y="2603900"/>
              <a:ext cx="1440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CADC9516-8454-498A-9C0A-69AF398EA506}"/>
                </a:ext>
              </a:extLst>
            </p:cNvPr>
            <p:cNvCxnSpPr>
              <a:cxnSpLocks/>
            </p:cNvCxnSpPr>
            <p:nvPr/>
          </p:nvCxnSpPr>
          <p:spPr>
            <a:xfrm>
              <a:off x="2925656" y="2607010"/>
              <a:ext cx="1440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>
              <a:extLst>
                <a:ext uri="{FF2B5EF4-FFF2-40B4-BE49-F238E27FC236}">
                  <a16:creationId xmlns:a16="http://schemas.microsoft.com/office/drawing/2014/main" id="{2BB46B7D-C8E2-4C23-8C3B-6FBE21D24510}"/>
                </a:ext>
              </a:extLst>
            </p:cNvPr>
            <p:cNvCxnSpPr>
              <a:cxnSpLocks/>
            </p:cNvCxnSpPr>
            <p:nvPr/>
          </p:nvCxnSpPr>
          <p:spPr>
            <a:xfrm>
              <a:off x="3588130" y="2621480"/>
              <a:ext cx="14401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연결선: 꺾임 78">
              <a:extLst>
                <a:ext uri="{FF2B5EF4-FFF2-40B4-BE49-F238E27FC236}">
                  <a16:creationId xmlns:a16="http://schemas.microsoft.com/office/drawing/2014/main" id="{A39E3230-5FB1-4CE3-B151-90A73A7A3D37}"/>
                </a:ext>
              </a:extLst>
            </p:cNvPr>
            <p:cNvCxnSpPr>
              <a:cxnSpLocks/>
              <a:stCxn id="112" idx="3"/>
            </p:cNvCxnSpPr>
            <p:nvPr/>
          </p:nvCxnSpPr>
          <p:spPr>
            <a:xfrm flipH="1">
              <a:off x="452166" y="2646766"/>
              <a:ext cx="3642253" cy="910818"/>
            </a:xfrm>
            <a:prstGeom prst="bentConnector3">
              <a:avLst>
                <a:gd name="adj1" fmla="val -6276"/>
              </a:avLst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F85AB0CD-B08F-4F46-B028-D19E6A086CA0}"/>
                </a:ext>
              </a:extLst>
            </p:cNvPr>
            <p:cNvCxnSpPr>
              <a:cxnSpLocks/>
            </p:cNvCxnSpPr>
            <p:nvPr/>
          </p:nvCxnSpPr>
          <p:spPr>
            <a:xfrm>
              <a:off x="452166" y="3557584"/>
              <a:ext cx="0" cy="1908000"/>
            </a:xfrm>
            <a:prstGeom prst="line">
              <a:avLst/>
            </a:prstGeom>
            <a:ln w="63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9762080F-FFE6-470A-9CF4-4BAF0D88FC2E}"/>
                </a:ext>
              </a:extLst>
            </p:cNvPr>
            <p:cNvCxnSpPr/>
            <p:nvPr/>
          </p:nvCxnSpPr>
          <p:spPr>
            <a:xfrm>
              <a:off x="452166" y="4205656"/>
              <a:ext cx="504056" cy="0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BAD5B543-9E05-49C3-8FA9-6BDEFE71B56B}"/>
                </a:ext>
              </a:extLst>
            </p:cNvPr>
            <p:cNvCxnSpPr/>
            <p:nvPr/>
          </p:nvCxnSpPr>
          <p:spPr>
            <a:xfrm>
              <a:off x="449529" y="5462104"/>
              <a:ext cx="504056" cy="0"/>
            </a:xfrm>
            <a:prstGeom prst="straightConnector1">
              <a:avLst/>
            </a:prstGeom>
            <a:ln w="31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44">
              <a:extLst>
                <a:ext uri="{FF2B5EF4-FFF2-40B4-BE49-F238E27FC236}">
                  <a16:creationId xmlns:a16="http://schemas.microsoft.com/office/drawing/2014/main" id="{95C45E2E-1110-410F-BE0F-D50F8C8C0D05}"/>
                </a:ext>
              </a:extLst>
            </p:cNvPr>
            <p:cNvSpPr txBox="1"/>
            <p:nvPr/>
          </p:nvSpPr>
          <p:spPr>
            <a:xfrm>
              <a:off x="380158" y="5141760"/>
              <a:ext cx="846707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[Prediction]</a:t>
              </a:r>
              <a:endParaRPr kumimoji="0" lang="ko-KR" alt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84" name="직선 화살표 연결선 83">
              <a:extLst>
                <a:ext uri="{FF2B5EF4-FFF2-40B4-BE49-F238E27FC236}">
                  <a16:creationId xmlns:a16="http://schemas.microsoft.com/office/drawing/2014/main" id="{C3EC21F0-9CAC-4798-B3DF-24B2E86331B3}"/>
                </a:ext>
              </a:extLst>
            </p:cNvPr>
            <p:cNvCxnSpPr/>
            <p:nvPr/>
          </p:nvCxnSpPr>
          <p:spPr>
            <a:xfrm>
              <a:off x="2396382" y="5496317"/>
              <a:ext cx="288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TextBox 46">
              <a:extLst>
                <a:ext uri="{FF2B5EF4-FFF2-40B4-BE49-F238E27FC236}">
                  <a16:creationId xmlns:a16="http://schemas.microsoft.com/office/drawing/2014/main" id="{B4C7465E-7D82-414D-85EA-1BC7BACA2E8C}"/>
                </a:ext>
              </a:extLst>
            </p:cNvPr>
            <p:cNvSpPr txBox="1"/>
            <p:nvPr/>
          </p:nvSpPr>
          <p:spPr>
            <a:xfrm>
              <a:off x="1085160" y="4761633"/>
              <a:ext cx="114326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※ 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자체 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Loss Function 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적용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6" name="그림 85">
              <a:extLst>
                <a:ext uri="{FF2B5EF4-FFF2-40B4-BE49-F238E27FC236}">
                  <a16:creationId xmlns:a16="http://schemas.microsoft.com/office/drawing/2014/main" id="{26AA62E2-A958-4A2E-93B0-5320E3C65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4414" y="4942719"/>
              <a:ext cx="1915690" cy="1153776"/>
            </a:xfrm>
            <a:prstGeom prst="rect">
              <a:avLst/>
            </a:prstGeom>
          </p:spPr>
        </p:pic>
        <p:sp>
          <p:nvSpPr>
            <p:cNvPr id="87" name="TextBox 48">
              <a:extLst>
                <a:ext uri="{FF2B5EF4-FFF2-40B4-BE49-F238E27FC236}">
                  <a16:creationId xmlns:a16="http://schemas.microsoft.com/office/drawing/2014/main" id="{254640C4-4BB7-4444-BD8C-22C3BA1557DC}"/>
                </a:ext>
              </a:extLst>
            </p:cNvPr>
            <p:cNvSpPr txBox="1"/>
            <p:nvPr/>
          </p:nvSpPr>
          <p:spPr>
            <a:xfrm>
              <a:off x="1423019" y="2879744"/>
              <a:ext cx="7120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※ </a:t>
              </a:r>
              <a:r>
                <a:rPr kumimoji="0" lang="ko-KR" altLang="en-US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자체 </a:t>
              </a:r>
              <a:r>
                <a:rPr lang="ko-KR" altLang="en-US" sz="60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이미지 </a:t>
              </a:r>
              <a:endParaRPr lang="en-US" altLang="ko-KR" sz="60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   </a:t>
              </a:r>
              <a:r>
                <a:rPr lang="ko-KR" altLang="en-US" sz="60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증강 기술</a:t>
              </a:r>
              <a:r>
                <a:rPr kumimoji="0" lang="en-US" altLang="ko-KR" sz="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 </a:t>
              </a:r>
              <a:endParaRPr kumimoji="0" lang="ko-KR" altLang="en-US" sz="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D8F07A3A-3DC5-4EE5-AE29-EE896E6949D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81081" y="879896"/>
              <a:ext cx="0" cy="5561228"/>
            </a:xfrm>
            <a:prstGeom prst="line">
              <a:avLst/>
            </a:prstGeom>
            <a:ln w="19050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AA53D6EC-69A9-454D-AE4C-1F26F9A71CFD}"/>
                </a:ext>
              </a:extLst>
            </p:cNvPr>
            <p:cNvSpPr/>
            <p:nvPr/>
          </p:nvSpPr>
          <p:spPr>
            <a:xfrm>
              <a:off x="7130240" y="2443826"/>
              <a:ext cx="676683" cy="781489"/>
            </a:xfrm>
            <a:prstGeom prst="roundRect">
              <a:avLst/>
            </a:prstGeom>
            <a:noFill/>
            <a:ln w="9525">
              <a:solidFill>
                <a:srgbClr val="00537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/>
            <a:lstStyle/>
            <a:p>
              <a:pPr marL="0" marR="0" lvl="0" indent="0" algn="ctr" defTabSz="914400" rtl="0" eaLnBrk="1" fontAlgn="auto" latinLnBrk="1" hangingPunct="1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Spectral </a:t>
              </a:r>
              <a:br>
                <a:rPr lang="en-US" altLang="ko-KR" sz="8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/>
                  <a:ea typeface="맑은 고딕" panose="020B0503020000020004" pitchFamily="50" charset="-127"/>
                </a:rPr>
                <a:t>Feature</a:t>
              </a:r>
            </a:p>
            <a:p>
              <a:pPr marL="0" marR="0" lvl="0" indent="0" algn="ctr" defTabSz="914400" rtl="0" eaLnBrk="1" fontAlgn="auto" latinLnBrk="1" hangingPunct="1">
                <a:lnSpc>
                  <a:spcPts val="8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파장 정보</a:t>
              </a:r>
              <a:r>
                <a:rPr kumimoji="0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)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C8A83743-C3FD-4FC3-B461-1622439CE199}"/>
                </a:ext>
              </a:extLst>
            </p:cNvPr>
            <p:cNvSpPr txBox="1"/>
            <p:nvPr/>
          </p:nvSpPr>
          <p:spPr>
            <a:xfrm>
              <a:off x="7091520" y="1227368"/>
              <a:ext cx="769538" cy="379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b="1" dirty="0">
                  <a:latin typeface="돋움" panose="020B0600000101010101" pitchFamily="50" charset="-127"/>
                  <a:ea typeface="돋움" panose="020B0600000101010101" pitchFamily="50" charset="-127"/>
                </a:rPr>
                <a:t>Feature Extraction </a:t>
              </a:r>
              <a:endParaRPr lang="ko-KR" altLang="en-US" sz="800" b="1" dirty="0"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  <p:sp>
          <p:nvSpPr>
            <p:cNvPr id="132" name="사각형: 둥근 모서리 131">
              <a:extLst>
                <a:ext uri="{FF2B5EF4-FFF2-40B4-BE49-F238E27FC236}">
                  <a16:creationId xmlns:a16="http://schemas.microsoft.com/office/drawing/2014/main" id="{35722583-A91E-445D-B4BB-25BDD05372CB}"/>
                </a:ext>
              </a:extLst>
            </p:cNvPr>
            <p:cNvSpPr/>
            <p:nvPr/>
          </p:nvSpPr>
          <p:spPr>
            <a:xfrm>
              <a:off x="7007337" y="1227368"/>
              <a:ext cx="947796" cy="2114192"/>
            </a:xfrm>
            <a:prstGeom prst="roundRect">
              <a:avLst/>
            </a:prstGeom>
            <a:noFill/>
            <a:ln w="9525">
              <a:solidFill>
                <a:srgbClr val="B4AE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B9B16307-DC42-489C-B9DA-03AC171ED0B8}"/>
                </a:ext>
              </a:extLst>
            </p:cNvPr>
            <p:cNvGrpSpPr/>
            <p:nvPr/>
          </p:nvGrpSpPr>
          <p:grpSpPr>
            <a:xfrm>
              <a:off x="7224194" y="2074620"/>
              <a:ext cx="470382" cy="289484"/>
              <a:chOff x="8397241" y="685768"/>
              <a:chExt cx="398679" cy="520925"/>
            </a:xfrm>
          </p:grpSpPr>
          <p:sp>
            <p:nvSpPr>
              <p:cNvPr id="136" name="정육면체 135">
                <a:extLst>
                  <a:ext uri="{FF2B5EF4-FFF2-40B4-BE49-F238E27FC236}">
                    <a16:creationId xmlns:a16="http://schemas.microsoft.com/office/drawing/2014/main" id="{020B9CB6-1707-4755-BB8E-3EFD3A9C2496}"/>
                  </a:ext>
                </a:extLst>
              </p:cNvPr>
              <p:cNvSpPr/>
              <p:nvPr/>
            </p:nvSpPr>
            <p:spPr bwMode="auto">
              <a:xfrm>
                <a:off x="8397241" y="685768"/>
                <a:ext cx="154795" cy="520925"/>
              </a:xfrm>
              <a:prstGeom prst="cube">
                <a:avLst>
                  <a:gd name="adj" fmla="val 53963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9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38" name="정육면체 137">
                <a:extLst>
                  <a:ext uri="{FF2B5EF4-FFF2-40B4-BE49-F238E27FC236}">
                    <a16:creationId xmlns:a16="http://schemas.microsoft.com/office/drawing/2014/main" id="{6AA1EC9F-2AC7-45E6-9F02-E89B2405ED7E}"/>
                  </a:ext>
                </a:extLst>
              </p:cNvPr>
              <p:cNvSpPr/>
              <p:nvPr/>
            </p:nvSpPr>
            <p:spPr bwMode="auto">
              <a:xfrm>
                <a:off x="8516488" y="778669"/>
                <a:ext cx="124368" cy="418531"/>
              </a:xfrm>
              <a:prstGeom prst="cube">
                <a:avLst>
                  <a:gd name="adj" fmla="val 53963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9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39" name="정육면체 138">
                <a:extLst>
                  <a:ext uri="{FF2B5EF4-FFF2-40B4-BE49-F238E27FC236}">
                    <a16:creationId xmlns:a16="http://schemas.microsoft.com/office/drawing/2014/main" id="{74718B9D-95E5-46A5-917B-C514B9B44F00}"/>
                  </a:ext>
                </a:extLst>
              </p:cNvPr>
              <p:cNvSpPr/>
              <p:nvPr/>
            </p:nvSpPr>
            <p:spPr bwMode="auto">
              <a:xfrm>
                <a:off x="8618292" y="822407"/>
                <a:ext cx="111371" cy="374793"/>
              </a:xfrm>
              <a:prstGeom prst="cube">
                <a:avLst>
                  <a:gd name="adj" fmla="val 53963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9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40" name="정육면체 139">
                <a:extLst>
                  <a:ext uri="{FF2B5EF4-FFF2-40B4-BE49-F238E27FC236}">
                    <a16:creationId xmlns:a16="http://schemas.microsoft.com/office/drawing/2014/main" id="{9A24157C-4DF2-4875-B3E3-6AE0C60D1D1D}"/>
                  </a:ext>
                </a:extLst>
              </p:cNvPr>
              <p:cNvSpPr/>
              <p:nvPr/>
            </p:nvSpPr>
            <p:spPr bwMode="auto">
              <a:xfrm>
                <a:off x="8710286" y="909019"/>
                <a:ext cx="85634" cy="288181"/>
              </a:xfrm>
              <a:prstGeom prst="cube">
                <a:avLst>
                  <a:gd name="adj" fmla="val 53963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0">
                <a:schemeClr val="accent6"/>
              </a:lnRef>
              <a:fillRef idx="3">
                <a:schemeClr val="accent6"/>
              </a:fillRef>
              <a:effectRef idx="3">
                <a:schemeClr val="accent6"/>
              </a:effectRef>
              <a:fontRef idx="minor">
                <a:schemeClr val="lt1"/>
              </a:fontRef>
            </p:style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1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900" b="1" i="0" u="none" strike="noStrike" cap="none" normalizeH="0" baseline="0">
                  <a:ln>
                    <a:noFill/>
                  </a:ln>
                  <a:solidFill>
                    <a:schemeClr val="bg1"/>
                  </a:solidFill>
                  <a:effectLst/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pic>
          <p:nvPicPr>
            <p:cNvPr id="183" name="그림 182">
              <a:extLst>
                <a:ext uri="{FF2B5EF4-FFF2-40B4-BE49-F238E27FC236}">
                  <a16:creationId xmlns:a16="http://schemas.microsoft.com/office/drawing/2014/main" id="{57E0F2F3-5909-4B5E-A306-D2CC70620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59005" y="2879443"/>
              <a:ext cx="435571" cy="314964"/>
            </a:xfrm>
            <a:prstGeom prst="rect">
              <a:avLst/>
            </a:prstGeom>
          </p:spPr>
        </p:pic>
        <p:sp>
          <p:nvSpPr>
            <p:cNvPr id="184" name="십자형 183">
              <a:extLst>
                <a:ext uri="{FF2B5EF4-FFF2-40B4-BE49-F238E27FC236}">
                  <a16:creationId xmlns:a16="http://schemas.microsoft.com/office/drawing/2014/main" id="{7B51CCBB-2340-4B17-AF47-6DC16DA0A5A0}"/>
                </a:ext>
              </a:extLst>
            </p:cNvPr>
            <p:cNvSpPr/>
            <p:nvPr/>
          </p:nvSpPr>
          <p:spPr bwMode="auto">
            <a:xfrm flipH="1">
              <a:off x="7439282" y="2428447"/>
              <a:ext cx="45719" cy="45719"/>
            </a:xfrm>
            <a:prstGeom prst="plus">
              <a:avLst>
                <a:gd name="adj" fmla="val 47179"/>
              </a:avLst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vert="horz" wrap="squar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9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FCC7F50B-27F4-442A-9F8C-33DCD70A50C8}"/>
              </a:ext>
            </a:extLst>
          </p:cNvPr>
          <p:cNvSpPr/>
          <p:nvPr/>
        </p:nvSpPr>
        <p:spPr>
          <a:xfrm>
            <a:off x="370691" y="1714263"/>
            <a:ext cx="2695970" cy="1308859"/>
          </a:xfrm>
          <a:prstGeom prst="roundRect">
            <a:avLst>
              <a:gd name="adj" fmla="val 11914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9EF0F65B-9F03-4461-A7BD-921B2801CB7A}"/>
              </a:ext>
            </a:extLst>
          </p:cNvPr>
          <p:cNvSpPr/>
          <p:nvPr/>
        </p:nvSpPr>
        <p:spPr>
          <a:xfrm>
            <a:off x="5151074" y="1138337"/>
            <a:ext cx="2923016" cy="1971869"/>
          </a:xfrm>
          <a:prstGeom prst="roundRect">
            <a:avLst>
              <a:gd name="adj" fmla="val 7354"/>
            </a:avLst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35632B-E91F-4636-A705-06903BE75BFD}"/>
              </a:ext>
            </a:extLst>
          </p:cNvPr>
          <p:cNvSpPr txBox="1"/>
          <p:nvPr/>
        </p:nvSpPr>
        <p:spPr>
          <a:xfrm>
            <a:off x="317241" y="1436919"/>
            <a:ext cx="17027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기존 특징점 추출 방식</a:t>
            </a:r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1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7217CA0-C522-44FD-B45E-88DC8B26C07B}"/>
              </a:ext>
            </a:extLst>
          </p:cNvPr>
          <p:cNvSpPr txBox="1"/>
          <p:nvPr/>
        </p:nvSpPr>
        <p:spPr>
          <a:xfrm>
            <a:off x="5066523" y="880193"/>
            <a:ext cx="17027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개선 특징점 추출 방식</a:t>
            </a:r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1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6" name="표 56">
            <a:extLst>
              <a:ext uri="{FF2B5EF4-FFF2-40B4-BE49-F238E27FC236}">
                <a16:creationId xmlns:a16="http://schemas.microsoft.com/office/drawing/2014/main" id="{D79970BF-A329-423D-B8B8-6D775F39A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80096"/>
              </p:ext>
            </p:extLst>
          </p:nvPr>
        </p:nvGraphicFramePr>
        <p:xfrm>
          <a:off x="491411" y="5948959"/>
          <a:ext cx="9056916" cy="680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5389">
                  <a:extLst>
                    <a:ext uri="{9D8B030D-6E8A-4147-A177-3AD203B41FA5}">
                      <a16:colId xmlns:a16="http://schemas.microsoft.com/office/drawing/2014/main" val="2103478975"/>
                    </a:ext>
                  </a:extLst>
                </a:gridCol>
                <a:gridCol w="4671527">
                  <a:extLst>
                    <a:ext uri="{9D8B030D-6E8A-4147-A177-3AD203B41FA5}">
                      <a16:colId xmlns:a16="http://schemas.microsoft.com/office/drawing/2014/main" val="1578984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ts val="1700"/>
                        </a:lnSpc>
                        <a:buAutoNum type="arabicParenR"/>
                      </a:pPr>
                      <a:r>
                        <a:rPr lang="ko-KR" altLang="en-US" sz="11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이미지 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EO, IR</a:t>
                      </a:r>
                    </a:p>
                    <a:p>
                      <a:pPr marL="228600" indent="-228600" latinLnBrk="1">
                        <a:lnSpc>
                          <a:spcPts val="1700"/>
                        </a:lnSpc>
                        <a:buAutoNum type="arabicParenR"/>
                      </a:pPr>
                      <a:r>
                        <a:rPr lang="ko-KR" altLang="en-US" sz="11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전처리 방식 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증강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-&gt; </a:t>
                      </a:r>
                      <a:r>
                        <a:rPr lang="ko-KR" altLang="en-US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특징점 추출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ts val="1600"/>
                        </a:lnSpc>
                        <a:buAutoNum type="arabicParenR"/>
                      </a:pPr>
                      <a:r>
                        <a:rPr lang="ko-KR" altLang="en-US" sz="11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이미지 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EO, IR,</a:t>
                      </a:r>
                      <a:r>
                        <a:rPr lang="ko-KR" altLang="en-US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</a:t>
                      </a:r>
                    </a:p>
                    <a:p>
                      <a:pPr marL="228600" indent="-228600" latinLnBrk="1">
                        <a:lnSpc>
                          <a:spcPts val="1600"/>
                        </a:lnSpc>
                        <a:buAutoNum type="arabicParenR"/>
                      </a:pPr>
                      <a:r>
                        <a:rPr lang="ko-KR" altLang="en-US" sz="1100" b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전처리 방식 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이미지 증강 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Spatial </a:t>
                      </a:r>
                      <a:r>
                        <a:rPr lang="ko-KR" altLang="en-US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특징점 추출 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Spectral </a:t>
                      </a:r>
                    </a:p>
                    <a:p>
                      <a:pPr marL="0" indent="0" latinLnBrk="1">
                        <a:lnSpc>
                          <a:spcPts val="1600"/>
                        </a:lnSpc>
                        <a:buNone/>
                      </a:pP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                      </a:t>
                      </a:r>
                      <a:r>
                        <a:rPr lang="ko-KR" altLang="en-US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특징점 추출 </a:t>
                      </a:r>
                      <a:r>
                        <a:rPr lang="en-US" altLang="ko-KR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-&gt; 2</a:t>
                      </a:r>
                      <a:r>
                        <a:rPr lang="ko-KR" altLang="en-US" sz="110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종 특징점 결합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2723312"/>
                  </a:ext>
                </a:extLst>
              </a:tr>
            </a:tbl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6C01C7E7-0BD3-4349-926B-6E5630DB8436}"/>
              </a:ext>
            </a:extLst>
          </p:cNvPr>
          <p:cNvSpPr txBox="1"/>
          <p:nvPr/>
        </p:nvSpPr>
        <p:spPr>
          <a:xfrm>
            <a:off x="370115" y="5632583"/>
            <a:ext cx="17027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특징점 추출 방식 비교</a:t>
            </a:r>
            <a:r>
              <a:rPr lang="en-US" altLang="ko-KR" sz="1100" b="1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1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038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33329556-47A1-48D2-8419-CBB810B3DFD1}"/>
              </a:ext>
            </a:extLst>
          </p:cNvPr>
          <p:cNvSpPr/>
          <p:nvPr/>
        </p:nvSpPr>
        <p:spPr>
          <a:xfrm>
            <a:off x="5284888" y="1698366"/>
            <a:ext cx="1983926" cy="358631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00"/>
              </a:lnSpc>
            </a:pPr>
            <a:r>
              <a:rPr lang="en-US" altLang="ko-KR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사단별 무기수를 월별로 </a:t>
            </a:r>
            <a:endParaRPr lang="en-US" altLang="ko-KR" sz="1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ts val="1200"/>
              </a:lnSpc>
            </a:pPr>
            <a:r>
              <a:rPr lang="en-US" altLang="ko-KR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  </a:t>
            </a:r>
            <a:r>
              <a:rPr lang="ko-KR" altLang="en-US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알려줘</a:t>
            </a: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4440067-1977-4AFD-A988-1E9F78E9C82E}"/>
              </a:ext>
            </a:extLst>
          </p:cNvPr>
          <p:cNvGrpSpPr/>
          <p:nvPr/>
        </p:nvGrpSpPr>
        <p:grpSpPr>
          <a:xfrm>
            <a:off x="5250439" y="1420680"/>
            <a:ext cx="1105066" cy="258797"/>
            <a:chOff x="7439339" y="1669124"/>
            <a:chExt cx="1040897" cy="330397"/>
          </a:xfrm>
        </p:grpSpPr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F52B07BB-5E00-4F3A-83E4-AD52800B28B7}"/>
                </a:ext>
              </a:extLst>
            </p:cNvPr>
            <p:cNvSpPr/>
            <p:nvPr/>
          </p:nvSpPr>
          <p:spPr>
            <a:xfrm>
              <a:off x="7439339" y="1746653"/>
              <a:ext cx="180663" cy="179248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768DB80-7BBF-47BC-BF9F-9EB7487A4BFB}"/>
                </a:ext>
              </a:extLst>
            </p:cNvPr>
            <p:cNvSpPr txBox="1"/>
            <p:nvPr/>
          </p:nvSpPr>
          <p:spPr>
            <a:xfrm>
              <a:off x="7595120" y="1669124"/>
              <a:ext cx="885116" cy="330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입력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0DC6959-EC2E-4CEF-9746-6C5E077799AB}"/>
              </a:ext>
            </a:extLst>
          </p:cNvPr>
          <p:cNvGrpSpPr/>
          <p:nvPr/>
        </p:nvGrpSpPr>
        <p:grpSpPr>
          <a:xfrm>
            <a:off x="5460413" y="2427840"/>
            <a:ext cx="584730" cy="471848"/>
            <a:chOff x="9409943" y="3427690"/>
            <a:chExt cx="550776" cy="602395"/>
          </a:xfrm>
        </p:grpSpPr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4624A19F-03BB-45C8-AE8F-43B2BAACD45B}"/>
                </a:ext>
              </a:extLst>
            </p:cNvPr>
            <p:cNvSpPr txBox="1"/>
            <p:nvPr/>
          </p:nvSpPr>
          <p:spPr>
            <a:xfrm>
              <a:off x="9409943" y="3427690"/>
              <a:ext cx="550776" cy="291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09539" latinLnBrk="1"/>
              <a:r>
                <a:rPr lang="ko-KR" altLang="en-US" sz="900" b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  <a:sym typeface="Arial"/>
                </a:rPr>
                <a:t>토큰화</a:t>
              </a:r>
              <a:endParaRPr lang="en-US" altLang="ko-KR" sz="9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  <p:sp>
          <p:nvSpPr>
            <p:cNvPr id="101" name="사각형: 둥근 모서리 33">
              <a:extLst>
                <a:ext uri="{FF2B5EF4-FFF2-40B4-BE49-F238E27FC236}">
                  <a16:creationId xmlns:a16="http://schemas.microsoft.com/office/drawing/2014/main" id="{73E2F321-FBE4-4CB9-8AA1-54457A0870B2}"/>
                </a:ext>
              </a:extLst>
            </p:cNvPr>
            <p:cNvSpPr/>
            <p:nvPr/>
          </p:nvSpPr>
          <p:spPr>
            <a:xfrm>
              <a:off x="9558250" y="3719065"/>
              <a:ext cx="338495" cy="311020"/>
            </a:xfrm>
            <a:prstGeom prst="roundRect">
              <a:avLst>
                <a:gd name="adj" fmla="val 1369"/>
              </a:avLst>
            </a:prstGeom>
            <a:solidFill>
              <a:schemeClr val="bg1"/>
            </a:solidFill>
            <a:ln w="12700" cap="flat" cmpd="sng">
              <a:solidFill>
                <a:srgbClr val="C00000"/>
              </a:solidFill>
              <a:prstDash val="sysDash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vert="horz" wrap="square" lIns="0" tIns="0" rIns="0" bIns="0" anchor="t" anchorCtr="0">
              <a:noAutofit/>
            </a:bodyPr>
            <a:lstStyle/>
            <a:p>
              <a:pPr algn="ctr" defTabSz="1219078">
                <a:buClr>
                  <a:srgbClr val="26138E"/>
                </a:buClr>
                <a:buSzPts val="758"/>
              </a:pPr>
              <a:endParaRPr lang="en-US" altLang="ko-KR" sz="933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  <p:pic>
          <p:nvPicPr>
            <p:cNvPr id="102" name="그래픽 101" descr="농작물 윤곽선">
              <a:extLst>
                <a:ext uri="{FF2B5EF4-FFF2-40B4-BE49-F238E27FC236}">
                  <a16:creationId xmlns:a16="http://schemas.microsoft.com/office/drawing/2014/main" id="{F915BC37-7EE4-4066-828B-DA47D947A8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89113" y="3712288"/>
              <a:ext cx="283501" cy="283502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EE204A81-5551-4E12-BA09-2D02527B668B}"/>
              </a:ext>
            </a:extLst>
          </p:cNvPr>
          <p:cNvSpPr txBox="1"/>
          <p:nvPr/>
        </p:nvSpPr>
        <p:spPr>
          <a:xfrm>
            <a:off x="6230521" y="2440999"/>
            <a:ext cx="933993" cy="22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39" latinLnBrk="1"/>
            <a:r>
              <a:rPr lang="ko-KR" altLang="en-US" sz="9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임베딩</a:t>
            </a:r>
            <a:r>
              <a:rPr lang="ko-KR" altLang="en-US" sz="9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생성</a:t>
            </a:r>
            <a:endParaRPr lang="en-US" altLang="ko-KR" sz="9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38A622D-2098-47AB-B8C4-0DE5E740573D}"/>
              </a:ext>
            </a:extLst>
          </p:cNvPr>
          <p:cNvGrpSpPr/>
          <p:nvPr/>
        </p:nvGrpSpPr>
        <p:grpSpPr>
          <a:xfrm>
            <a:off x="6455050" y="2663263"/>
            <a:ext cx="359339" cy="248491"/>
            <a:chOff x="8434322" y="3180846"/>
            <a:chExt cx="382014" cy="317241"/>
          </a:xfrm>
        </p:grpSpPr>
        <p:sp>
          <p:nvSpPr>
            <p:cNvPr id="98" name="사각형: 둥근 모서리 33">
              <a:extLst>
                <a:ext uri="{FF2B5EF4-FFF2-40B4-BE49-F238E27FC236}">
                  <a16:creationId xmlns:a16="http://schemas.microsoft.com/office/drawing/2014/main" id="{5053C129-23FF-487F-864B-B1AC0B09C9CE}"/>
                </a:ext>
              </a:extLst>
            </p:cNvPr>
            <p:cNvSpPr/>
            <p:nvPr/>
          </p:nvSpPr>
          <p:spPr>
            <a:xfrm>
              <a:off x="8434322" y="3180846"/>
              <a:ext cx="382014" cy="317241"/>
            </a:xfrm>
            <a:prstGeom prst="roundRect">
              <a:avLst>
                <a:gd name="adj" fmla="val 1369"/>
              </a:avLst>
            </a:prstGeom>
            <a:solidFill>
              <a:schemeClr val="bg1"/>
            </a:solidFill>
            <a:ln w="12700" cap="flat" cmpd="sng">
              <a:solidFill>
                <a:srgbClr val="C00000"/>
              </a:solidFill>
              <a:prstDash val="sysDash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vert="horz" wrap="square" lIns="0" tIns="0" rIns="0" bIns="0" anchor="t" anchorCtr="0">
              <a:noAutofit/>
            </a:bodyPr>
            <a:lstStyle/>
            <a:p>
              <a:pPr algn="ctr" defTabSz="1219078">
                <a:buClr>
                  <a:srgbClr val="26138E"/>
                </a:buClr>
                <a:buSzPts val="758"/>
              </a:pPr>
              <a:endParaRPr lang="en-US" altLang="ko-KR" sz="933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  <p:pic>
          <p:nvPicPr>
            <p:cNvPr id="99" name="Picture 8" descr="embedding icon from technology collection. Filled embedding, technology,  card glyph icons isolated on white background. Black vector embedding sign,  symbol for web design and mobile apps Stock Vector | Adobe Stock">
              <a:extLst>
                <a:ext uri="{FF2B5EF4-FFF2-40B4-BE49-F238E27FC236}">
                  <a16:creationId xmlns:a16="http://schemas.microsoft.com/office/drawing/2014/main" id="{6D6CFA58-24F0-44FA-BF60-790D95EBAC60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41" t="20317" r="20511" b="20000"/>
            <a:stretch/>
          </p:blipFill>
          <p:spPr bwMode="auto">
            <a:xfrm>
              <a:off x="8500802" y="3261706"/>
              <a:ext cx="205362" cy="155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71DFD35-7C69-426F-98C5-6E1599CE48B0}"/>
              </a:ext>
            </a:extLst>
          </p:cNvPr>
          <p:cNvGrpSpPr/>
          <p:nvPr/>
        </p:nvGrpSpPr>
        <p:grpSpPr>
          <a:xfrm>
            <a:off x="5280159" y="2169681"/>
            <a:ext cx="1436886" cy="258797"/>
            <a:chOff x="7467336" y="2625348"/>
            <a:chExt cx="1353450" cy="330397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B464BA04-EA67-42AB-BA87-F960BB6BCC6A}"/>
                </a:ext>
              </a:extLst>
            </p:cNvPr>
            <p:cNvSpPr/>
            <p:nvPr/>
          </p:nvSpPr>
          <p:spPr>
            <a:xfrm>
              <a:off x="7467336" y="2732871"/>
              <a:ext cx="180663" cy="179248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2B7034B4-9618-44D5-B96B-A662A2D01436}"/>
                </a:ext>
              </a:extLst>
            </p:cNvPr>
            <p:cNvSpPr txBox="1"/>
            <p:nvPr/>
          </p:nvSpPr>
          <p:spPr>
            <a:xfrm>
              <a:off x="7623117" y="2625348"/>
              <a:ext cx="1197669" cy="330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토큰화 및 벡터화</a:t>
              </a: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E97E963-2ECE-4CBC-A110-060D4FB431A1}"/>
              </a:ext>
            </a:extLst>
          </p:cNvPr>
          <p:cNvGrpSpPr/>
          <p:nvPr/>
        </p:nvGrpSpPr>
        <p:grpSpPr>
          <a:xfrm>
            <a:off x="5276860" y="3049775"/>
            <a:ext cx="1229637" cy="258797"/>
            <a:chOff x="7464225" y="3748935"/>
            <a:chExt cx="1158234" cy="330397"/>
          </a:xfrm>
        </p:grpSpPr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CF774C2F-C4CC-429F-B535-16AD9343B74D}"/>
                </a:ext>
              </a:extLst>
            </p:cNvPr>
            <p:cNvSpPr/>
            <p:nvPr/>
          </p:nvSpPr>
          <p:spPr>
            <a:xfrm>
              <a:off x="7464225" y="3828490"/>
              <a:ext cx="180663" cy="179248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35AFBE0-6FE0-42E8-BA69-F382AA07EF01}"/>
                </a:ext>
              </a:extLst>
            </p:cNvPr>
            <p:cNvSpPr txBox="1"/>
            <p:nvPr/>
          </p:nvSpPr>
          <p:spPr>
            <a:xfrm>
              <a:off x="7639198" y="3748935"/>
              <a:ext cx="983261" cy="330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벡터 </a:t>
              </a:r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DB </a:t>
              </a:r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5BDBEF79-2F97-44F9-898D-15F7980185AE}"/>
              </a:ext>
            </a:extLst>
          </p:cNvPr>
          <p:cNvGrpSpPr/>
          <p:nvPr/>
        </p:nvGrpSpPr>
        <p:grpSpPr>
          <a:xfrm>
            <a:off x="5293367" y="3756496"/>
            <a:ext cx="941559" cy="258797"/>
            <a:chOff x="7479776" y="4638741"/>
            <a:chExt cx="886885" cy="330397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59813008-C13C-4F16-86CE-BE1A35337031}"/>
                </a:ext>
              </a:extLst>
            </p:cNvPr>
            <p:cNvSpPr/>
            <p:nvPr/>
          </p:nvSpPr>
          <p:spPr>
            <a:xfrm>
              <a:off x="7479776" y="4714839"/>
              <a:ext cx="180663" cy="179248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34EB8D6-B77B-4E63-A06F-1BE060782969}"/>
                </a:ext>
              </a:extLst>
            </p:cNvPr>
            <p:cNvSpPr txBox="1"/>
            <p:nvPr/>
          </p:nvSpPr>
          <p:spPr>
            <a:xfrm>
              <a:off x="7635557" y="4638741"/>
              <a:ext cx="731104" cy="330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SQL</a:t>
              </a:r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LLM</a:t>
              </a:r>
              <a:endPara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56" name="그림 55">
            <a:extLst>
              <a:ext uri="{FF2B5EF4-FFF2-40B4-BE49-F238E27FC236}">
                <a16:creationId xmlns:a16="http://schemas.microsoft.com/office/drawing/2014/main" id="{EA15E9AE-53CD-4938-AEAE-CB40683EC5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6895" y="4089668"/>
            <a:ext cx="904327" cy="313848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51E16651-3C4B-4892-BE9C-3C4C0190E7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256" y="5149178"/>
            <a:ext cx="737361" cy="473625"/>
          </a:xfrm>
          <a:prstGeom prst="rect">
            <a:avLst/>
          </a:prstGeom>
        </p:spPr>
      </p:pic>
      <p:grpSp>
        <p:nvGrpSpPr>
          <p:cNvPr id="58" name="그룹 57">
            <a:extLst>
              <a:ext uri="{FF2B5EF4-FFF2-40B4-BE49-F238E27FC236}">
                <a16:creationId xmlns:a16="http://schemas.microsoft.com/office/drawing/2014/main" id="{C4B3AB99-596A-49F3-8E37-9917EE3A4A5C}"/>
              </a:ext>
            </a:extLst>
          </p:cNvPr>
          <p:cNvGrpSpPr/>
          <p:nvPr/>
        </p:nvGrpSpPr>
        <p:grpSpPr>
          <a:xfrm>
            <a:off x="5552797" y="4009853"/>
            <a:ext cx="474317" cy="445938"/>
            <a:chOff x="7037730" y="5026090"/>
            <a:chExt cx="562240" cy="714282"/>
          </a:xfrm>
        </p:grpSpPr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15292F1A-2B16-4CD8-8489-4010605D7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7730" y="5156714"/>
              <a:ext cx="562240" cy="583658"/>
            </a:xfrm>
            <a:prstGeom prst="rect">
              <a:avLst/>
            </a:prstGeom>
          </p:spPr>
        </p:pic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9D272864-2135-4E3F-B2C1-945A927E1A91}"/>
                </a:ext>
              </a:extLst>
            </p:cNvPr>
            <p:cNvSpPr/>
            <p:nvPr/>
          </p:nvSpPr>
          <p:spPr>
            <a:xfrm>
              <a:off x="7321420" y="5026090"/>
              <a:ext cx="211493" cy="1306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EE85CA14-D4F6-4BA0-8517-86C625D9E6DA}"/>
              </a:ext>
            </a:extLst>
          </p:cNvPr>
          <p:cNvSpPr/>
          <p:nvPr/>
        </p:nvSpPr>
        <p:spPr>
          <a:xfrm>
            <a:off x="5362985" y="4013439"/>
            <a:ext cx="1918271" cy="550579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8790BAE9-D6C3-4AA5-8754-84EAED7ECFBB}"/>
              </a:ext>
            </a:extLst>
          </p:cNvPr>
          <p:cNvSpPr/>
          <p:nvPr/>
        </p:nvSpPr>
        <p:spPr>
          <a:xfrm>
            <a:off x="5362915" y="2443047"/>
            <a:ext cx="1899679" cy="579984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61FE96F3-2C14-459D-AA1A-2F8B58DC8B32}"/>
              </a:ext>
            </a:extLst>
          </p:cNvPr>
          <p:cNvGrpSpPr/>
          <p:nvPr/>
        </p:nvGrpSpPr>
        <p:grpSpPr>
          <a:xfrm>
            <a:off x="5323084" y="4785307"/>
            <a:ext cx="1435284" cy="258797"/>
            <a:chOff x="7507768" y="5964640"/>
            <a:chExt cx="1351940" cy="330398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2B132D2-1FF4-4F5F-8CD0-7CF2CBED17B1}"/>
                </a:ext>
              </a:extLst>
            </p:cNvPr>
            <p:cNvSpPr/>
            <p:nvPr/>
          </p:nvSpPr>
          <p:spPr>
            <a:xfrm>
              <a:off x="7507768" y="6035012"/>
              <a:ext cx="180663" cy="179247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5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5E731F0-E0F9-41BF-8646-8060BAB54159}"/>
                </a:ext>
              </a:extLst>
            </p:cNvPr>
            <p:cNvSpPr txBox="1"/>
            <p:nvPr/>
          </p:nvSpPr>
          <p:spPr>
            <a:xfrm>
              <a:off x="7663549" y="5964640"/>
              <a:ext cx="1196159" cy="3303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LLM </a:t>
              </a:r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및 그래프화</a:t>
              </a: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2414C14F-71B6-4B90-BE8A-A708E68D28B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9367" y="5117405"/>
            <a:ext cx="2373920" cy="1202429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9AD754D9-116F-4ED2-9EEE-44AA51B88123}"/>
              </a:ext>
            </a:extLst>
          </p:cNvPr>
          <p:cNvSpPr/>
          <p:nvPr/>
        </p:nvSpPr>
        <p:spPr>
          <a:xfrm>
            <a:off x="5346476" y="5112474"/>
            <a:ext cx="905472" cy="550579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8" name="사각형: 둥근 모서리 197">
            <a:extLst>
              <a:ext uri="{FF2B5EF4-FFF2-40B4-BE49-F238E27FC236}">
                <a16:creationId xmlns:a16="http://schemas.microsoft.com/office/drawing/2014/main" id="{4A06E55A-5053-433F-AD9A-613D41392FF7}"/>
              </a:ext>
            </a:extLst>
          </p:cNvPr>
          <p:cNvSpPr/>
          <p:nvPr/>
        </p:nvSpPr>
        <p:spPr>
          <a:xfrm>
            <a:off x="5109923" y="1350085"/>
            <a:ext cx="3978127" cy="5150498"/>
          </a:xfrm>
          <a:prstGeom prst="roundRect">
            <a:avLst>
              <a:gd name="adj" fmla="val 4604"/>
            </a:avLst>
          </a:prstGeom>
          <a:noFill/>
          <a:ln>
            <a:solidFill>
              <a:srgbClr val="B0C7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2" name="사각형: 둥근 모서리 221">
            <a:extLst>
              <a:ext uri="{FF2B5EF4-FFF2-40B4-BE49-F238E27FC236}">
                <a16:creationId xmlns:a16="http://schemas.microsoft.com/office/drawing/2014/main" id="{FE12134F-19DD-4EE8-B9E9-CA5E8D7BB117}"/>
              </a:ext>
            </a:extLst>
          </p:cNvPr>
          <p:cNvSpPr/>
          <p:nvPr/>
        </p:nvSpPr>
        <p:spPr>
          <a:xfrm>
            <a:off x="870678" y="1359159"/>
            <a:ext cx="3978127" cy="5150498"/>
          </a:xfrm>
          <a:prstGeom prst="roundRect">
            <a:avLst>
              <a:gd name="adj" fmla="val 4604"/>
            </a:avLst>
          </a:prstGeom>
          <a:noFill/>
          <a:ln>
            <a:solidFill>
              <a:srgbClr val="B0C7D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A0941-5127-4768-B570-696DA2793489}"/>
              </a:ext>
            </a:extLst>
          </p:cNvPr>
          <p:cNvSpPr txBox="1"/>
          <p:nvPr/>
        </p:nvSpPr>
        <p:spPr>
          <a:xfrm>
            <a:off x="304800" y="335897"/>
            <a:ext cx="7883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en-US" altLang="ko-KR" b="1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</a:t>
            </a:r>
            <a:r>
              <a:rPr lang="en-US" altLang="ko-KR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수집 후 그래프 표기</a:t>
            </a:r>
            <a:r>
              <a:rPr lang="en-US" altLang="ko-KR" b="1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b="1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서비스와 질의 질문 서비스 비교</a:t>
            </a:r>
            <a:endParaRPr lang="ko-KR" altLang="en-US" b="1" dirty="0">
              <a:solidFill>
                <a:srgbClr val="00537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D41CD709-7F4B-41FC-B7FA-BF5FFC54974A}"/>
              </a:ext>
            </a:extLst>
          </p:cNvPr>
          <p:cNvSpPr/>
          <p:nvPr/>
        </p:nvSpPr>
        <p:spPr>
          <a:xfrm>
            <a:off x="1066954" y="1970256"/>
            <a:ext cx="2003098" cy="402534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Ex) </a:t>
            </a:r>
            <a:r>
              <a:rPr lang="ko-KR" altLang="en-US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사단별로 무기수를 월별로 알려줘 </a:t>
            </a:r>
          </a:p>
        </p:txBody>
      </p: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AED6CF62-E84E-4B54-928D-85A467928F3D}"/>
              </a:ext>
            </a:extLst>
          </p:cNvPr>
          <p:cNvGrpSpPr/>
          <p:nvPr/>
        </p:nvGrpSpPr>
        <p:grpSpPr>
          <a:xfrm>
            <a:off x="1024074" y="1653962"/>
            <a:ext cx="1165061" cy="265429"/>
            <a:chOff x="7439339" y="1794810"/>
            <a:chExt cx="1040897" cy="330397"/>
          </a:xfrm>
        </p:grpSpPr>
        <p:sp>
          <p:nvSpPr>
            <p:cNvPr id="196" name="직사각형 195">
              <a:extLst>
                <a:ext uri="{FF2B5EF4-FFF2-40B4-BE49-F238E27FC236}">
                  <a16:creationId xmlns:a16="http://schemas.microsoft.com/office/drawing/2014/main" id="{DFEE9842-C428-4B98-9BFA-64754A6B30E6}"/>
                </a:ext>
              </a:extLst>
            </p:cNvPr>
            <p:cNvSpPr/>
            <p:nvPr/>
          </p:nvSpPr>
          <p:spPr>
            <a:xfrm>
              <a:off x="7439339" y="1872340"/>
              <a:ext cx="180663" cy="179247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4ED5E8FC-127C-4D14-AE0A-230E807E6E80}"/>
                </a:ext>
              </a:extLst>
            </p:cNvPr>
            <p:cNvSpPr txBox="1"/>
            <p:nvPr/>
          </p:nvSpPr>
          <p:spPr>
            <a:xfrm>
              <a:off x="7595120" y="1794810"/>
              <a:ext cx="885116" cy="330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입력</a:t>
              </a:r>
            </a:p>
          </p:txBody>
        </p:sp>
      </p:grp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82F82C3-9214-45A0-99BD-34296F5C4F19}"/>
              </a:ext>
            </a:extLst>
          </p:cNvPr>
          <p:cNvGrpSpPr/>
          <p:nvPr/>
        </p:nvGrpSpPr>
        <p:grpSpPr>
          <a:xfrm>
            <a:off x="1173312" y="2863380"/>
            <a:ext cx="616475" cy="458698"/>
            <a:chOff x="9345491" y="3356991"/>
            <a:chExt cx="550776" cy="570973"/>
          </a:xfrm>
        </p:grpSpPr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9215E477-A1D6-49D0-B00F-975F77995734}"/>
                </a:ext>
              </a:extLst>
            </p:cNvPr>
            <p:cNvSpPr txBox="1"/>
            <p:nvPr/>
          </p:nvSpPr>
          <p:spPr>
            <a:xfrm>
              <a:off x="9345491" y="3356991"/>
              <a:ext cx="550776" cy="2915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609539" latinLnBrk="1"/>
              <a:r>
                <a:rPr lang="ko-KR" altLang="en-US" sz="900" b="1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  <a:sym typeface="Arial"/>
                </a:rPr>
                <a:t>토큰화</a:t>
              </a:r>
              <a:endParaRPr lang="en-US" altLang="ko-KR" sz="9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  <p:sp>
          <p:nvSpPr>
            <p:cNvPr id="194" name="사각형: 둥근 모서리 33">
              <a:extLst>
                <a:ext uri="{FF2B5EF4-FFF2-40B4-BE49-F238E27FC236}">
                  <a16:creationId xmlns:a16="http://schemas.microsoft.com/office/drawing/2014/main" id="{039C6DBD-2D64-4817-A996-7BCE18D83858}"/>
                </a:ext>
              </a:extLst>
            </p:cNvPr>
            <p:cNvSpPr/>
            <p:nvPr/>
          </p:nvSpPr>
          <p:spPr>
            <a:xfrm>
              <a:off x="9458648" y="3616943"/>
              <a:ext cx="338495" cy="311021"/>
            </a:xfrm>
            <a:prstGeom prst="roundRect">
              <a:avLst>
                <a:gd name="adj" fmla="val 1369"/>
              </a:avLst>
            </a:prstGeom>
            <a:solidFill>
              <a:schemeClr val="bg1"/>
            </a:solidFill>
            <a:ln w="12700" cap="flat" cmpd="sng">
              <a:solidFill>
                <a:srgbClr val="C00000"/>
              </a:solidFill>
              <a:prstDash val="sysDash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vert="horz" wrap="square" lIns="0" tIns="0" rIns="0" bIns="0" anchor="t" anchorCtr="0">
              <a:noAutofit/>
            </a:bodyPr>
            <a:lstStyle/>
            <a:p>
              <a:pPr algn="ctr" defTabSz="1219078">
                <a:buClr>
                  <a:srgbClr val="26138E"/>
                </a:buClr>
                <a:buSzPts val="758"/>
              </a:pPr>
              <a:endParaRPr lang="en-US" altLang="ko-KR" sz="933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  <p:pic>
          <p:nvPicPr>
            <p:cNvPr id="195" name="그래픽 194" descr="농작물 윤곽선">
              <a:extLst>
                <a:ext uri="{FF2B5EF4-FFF2-40B4-BE49-F238E27FC236}">
                  <a16:creationId xmlns:a16="http://schemas.microsoft.com/office/drawing/2014/main" id="{7F214D24-8E1B-4C37-9866-CFE3344D2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89504" y="3610161"/>
              <a:ext cx="283501" cy="283501"/>
            </a:xfrm>
            <a:prstGeom prst="rect">
              <a:avLst/>
            </a:prstGeom>
          </p:spPr>
        </p:pic>
      </p:grpSp>
      <p:sp>
        <p:nvSpPr>
          <p:cNvPr id="135" name="TextBox 134">
            <a:extLst>
              <a:ext uri="{FF2B5EF4-FFF2-40B4-BE49-F238E27FC236}">
                <a16:creationId xmlns:a16="http://schemas.microsoft.com/office/drawing/2014/main" id="{4549F08D-A86C-42BB-8C9B-1D4683F94B83}"/>
              </a:ext>
            </a:extLst>
          </p:cNvPr>
          <p:cNvSpPr txBox="1"/>
          <p:nvPr/>
        </p:nvSpPr>
        <p:spPr>
          <a:xfrm>
            <a:off x="1919649" y="2864248"/>
            <a:ext cx="984700" cy="234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39" latinLnBrk="1"/>
            <a:r>
              <a:rPr lang="ko-KR" altLang="en-US" sz="900" b="1" dirty="0" err="1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임베딩</a:t>
            </a:r>
            <a:r>
              <a:rPr lang="ko-KR" altLang="en-US" sz="900" b="1" dirty="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rPr>
              <a:t> 생성</a:t>
            </a:r>
            <a:endParaRPr lang="en-US" altLang="ko-KR" sz="900" b="1" dirty="0">
              <a:solidFill>
                <a:srgbClr val="00000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  <a:sym typeface="Arial"/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F6C43C72-BAF8-4839-872E-B4744984C2A0}"/>
              </a:ext>
            </a:extLst>
          </p:cNvPr>
          <p:cNvGrpSpPr/>
          <p:nvPr/>
        </p:nvGrpSpPr>
        <p:grpSpPr>
          <a:xfrm>
            <a:off x="2156368" y="3092206"/>
            <a:ext cx="378848" cy="254859"/>
            <a:chOff x="8295455" y="3094430"/>
            <a:chExt cx="382014" cy="317241"/>
          </a:xfrm>
        </p:grpSpPr>
        <p:sp>
          <p:nvSpPr>
            <p:cNvPr id="191" name="사각형: 둥근 모서리 33">
              <a:extLst>
                <a:ext uri="{FF2B5EF4-FFF2-40B4-BE49-F238E27FC236}">
                  <a16:creationId xmlns:a16="http://schemas.microsoft.com/office/drawing/2014/main" id="{088E4817-B44B-42DD-9967-0849CC6FA33B}"/>
                </a:ext>
              </a:extLst>
            </p:cNvPr>
            <p:cNvSpPr/>
            <p:nvPr/>
          </p:nvSpPr>
          <p:spPr>
            <a:xfrm>
              <a:off x="8295455" y="3094430"/>
              <a:ext cx="382014" cy="317241"/>
            </a:xfrm>
            <a:prstGeom prst="roundRect">
              <a:avLst>
                <a:gd name="adj" fmla="val 1369"/>
              </a:avLst>
            </a:prstGeom>
            <a:solidFill>
              <a:schemeClr val="bg1"/>
            </a:solidFill>
            <a:ln w="12700" cap="flat" cmpd="sng">
              <a:solidFill>
                <a:srgbClr val="C00000"/>
              </a:solidFill>
              <a:prstDash val="sysDash"/>
              <a:round/>
              <a:headEnd type="none" w="sm" len="sm"/>
              <a:tailEnd type="none" w="sm" len="sm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vert="horz" wrap="square" lIns="0" tIns="0" rIns="0" bIns="0" anchor="t" anchorCtr="0">
              <a:noAutofit/>
            </a:bodyPr>
            <a:lstStyle/>
            <a:p>
              <a:pPr algn="ctr" defTabSz="1219078">
                <a:buClr>
                  <a:srgbClr val="26138E"/>
                </a:buClr>
                <a:buSzPts val="758"/>
              </a:pPr>
              <a:endParaRPr lang="en-US" altLang="ko-KR" sz="933" kern="0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  <a:sym typeface="Arial"/>
              </a:endParaRPr>
            </a:p>
          </p:txBody>
        </p:sp>
        <p:pic>
          <p:nvPicPr>
            <p:cNvPr id="192" name="Picture 8" descr="embedding icon from technology collection. Filled embedding, technology,  card glyph icons isolated on white background. Black vector embedding sign,  symbol for web design and mobile apps Stock Vector | Adobe Stock">
              <a:extLst>
                <a:ext uri="{FF2B5EF4-FFF2-40B4-BE49-F238E27FC236}">
                  <a16:creationId xmlns:a16="http://schemas.microsoft.com/office/drawing/2014/main" id="{4D4F143A-5FF0-4A09-9688-6488B4C543A7}"/>
                </a:ext>
              </a:extLst>
            </p:cNvPr>
            <p:cNvPicPr>
              <a:picLocks noChangeArrowheads="1"/>
            </p:cNvPicPr>
            <p:nvPr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041" t="20317" r="20511" b="20000"/>
            <a:stretch/>
          </p:blipFill>
          <p:spPr bwMode="auto">
            <a:xfrm>
              <a:off x="8361936" y="3175294"/>
              <a:ext cx="205362" cy="1555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1CEFC85D-B153-4AF3-AEB4-56BA3705D436}"/>
              </a:ext>
            </a:extLst>
          </p:cNvPr>
          <p:cNvGrpSpPr/>
          <p:nvPr/>
        </p:nvGrpSpPr>
        <p:grpSpPr>
          <a:xfrm>
            <a:off x="1582612" y="3971240"/>
            <a:ext cx="576635" cy="311951"/>
            <a:chOff x="7183813" y="3990868"/>
            <a:chExt cx="857371" cy="832138"/>
          </a:xfrm>
        </p:grpSpPr>
        <p:sp>
          <p:nvSpPr>
            <p:cNvPr id="167" name="원통[C] 317">
              <a:extLst>
                <a:ext uri="{FF2B5EF4-FFF2-40B4-BE49-F238E27FC236}">
                  <a16:creationId xmlns:a16="http://schemas.microsoft.com/office/drawing/2014/main" id="{A136C3EA-547E-40C1-97DC-832204C0A399}"/>
                </a:ext>
              </a:extLst>
            </p:cNvPr>
            <p:cNvSpPr/>
            <p:nvPr/>
          </p:nvSpPr>
          <p:spPr>
            <a:xfrm>
              <a:off x="7183813" y="3990868"/>
              <a:ext cx="857371" cy="832138"/>
            </a:xfrm>
            <a:prstGeom prst="can">
              <a:avLst>
                <a:gd name="adj" fmla="val 24501"/>
              </a:avLst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39">
                <a:buClr>
                  <a:srgbClr val="000000"/>
                </a:buClr>
              </a:pPr>
              <a:endParaRPr kumimoji="1" lang="ko-Kore-KR" altLang="en-US" sz="933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  <a:sym typeface="Arial"/>
              </a:endParaRPr>
            </a:p>
          </p:txBody>
        </p:sp>
        <p:sp>
          <p:nvSpPr>
            <p:cNvPr id="168" name="타원 167">
              <a:extLst>
                <a:ext uri="{FF2B5EF4-FFF2-40B4-BE49-F238E27FC236}">
                  <a16:creationId xmlns:a16="http://schemas.microsoft.com/office/drawing/2014/main" id="{666F6AEC-1E09-4A42-849E-4FDB8F9B77E1}"/>
                </a:ext>
              </a:extLst>
            </p:cNvPr>
            <p:cNvSpPr>
              <a:spLocks/>
            </p:cNvSpPr>
            <p:nvPr/>
          </p:nvSpPr>
          <p:spPr>
            <a:xfrm>
              <a:off x="7240453" y="4130146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925A7103-A015-488C-A234-205D8610DAD6}"/>
                </a:ext>
              </a:extLst>
            </p:cNvPr>
            <p:cNvSpPr>
              <a:spLocks/>
            </p:cNvSpPr>
            <p:nvPr/>
          </p:nvSpPr>
          <p:spPr>
            <a:xfrm>
              <a:off x="7251739" y="4233522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6D4B23CD-8DEF-435A-845C-032AAE0DB9A4}"/>
                </a:ext>
              </a:extLst>
            </p:cNvPr>
            <p:cNvSpPr>
              <a:spLocks/>
            </p:cNvSpPr>
            <p:nvPr/>
          </p:nvSpPr>
          <p:spPr>
            <a:xfrm>
              <a:off x="7372109" y="4240191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1" name="타원 170">
              <a:extLst>
                <a:ext uri="{FF2B5EF4-FFF2-40B4-BE49-F238E27FC236}">
                  <a16:creationId xmlns:a16="http://schemas.microsoft.com/office/drawing/2014/main" id="{5739F783-C5DD-40E9-B2B0-9EF86ED3CC82}"/>
                </a:ext>
              </a:extLst>
            </p:cNvPr>
            <p:cNvSpPr>
              <a:spLocks/>
            </p:cNvSpPr>
            <p:nvPr/>
          </p:nvSpPr>
          <p:spPr>
            <a:xfrm>
              <a:off x="7484957" y="4240191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5CA2E731-8C98-414F-92EC-EF1CCF54F5F2}"/>
                </a:ext>
              </a:extLst>
            </p:cNvPr>
            <p:cNvSpPr>
              <a:spLocks/>
            </p:cNvSpPr>
            <p:nvPr/>
          </p:nvSpPr>
          <p:spPr>
            <a:xfrm>
              <a:off x="7372109" y="4233522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3" name="타원 172">
              <a:extLst>
                <a:ext uri="{FF2B5EF4-FFF2-40B4-BE49-F238E27FC236}">
                  <a16:creationId xmlns:a16="http://schemas.microsoft.com/office/drawing/2014/main" id="{2E1A13D3-216B-40A2-B5F4-1B95291550BF}"/>
                </a:ext>
              </a:extLst>
            </p:cNvPr>
            <p:cNvSpPr>
              <a:spLocks/>
            </p:cNvSpPr>
            <p:nvPr/>
          </p:nvSpPr>
          <p:spPr>
            <a:xfrm>
              <a:off x="7800931" y="4240191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1E89ABA9-6D37-4177-B2E7-E4FFF8CDB9A9}"/>
                </a:ext>
              </a:extLst>
            </p:cNvPr>
            <p:cNvSpPr>
              <a:spLocks/>
            </p:cNvSpPr>
            <p:nvPr/>
          </p:nvSpPr>
          <p:spPr>
            <a:xfrm>
              <a:off x="7349540" y="4353570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5" name="타원 174">
              <a:extLst>
                <a:ext uri="{FF2B5EF4-FFF2-40B4-BE49-F238E27FC236}">
                  <a16:creationId xmlns:a16="http://schemas.microsoft.com/office/drawing/2014/main" id="{CD95DB24-8D37-46A4-9475-5DD47C961A4E}"/>
                </a:ext>
              </a:extLst>
            </p:cNvPr>
            <p:cNvSpPr>
              <a:spLocks/>
            </p:cNvSpPr>
            <p:nvPr/>
          </p:nvSpPr>
          <p:spPr>
            <a:xfrm>
              <a:off x="7488719" y="4370244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8FE5A939-2F83-4DCD-AC35-A4E567CA7486}"/>
                </a:ext>
              </a:extLst>
            </p:cNvPr>
            <p:cNvSpPr>
              <a:spLocks/>
            </p:cNvSpPr>
            <p:nvPr/>
          </p:nvSpPr>
          <p:spPr>
            <a:xfrm>
              <a:off x="7259261" y="4453613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BF3DEBFE-02B5-4996-A91C-8EF28371D055}"/>
                </a:ext>
              </a:extLst>
            </p:cNvPr>
            <p:cNvSpPr>
              <a:spLocks/>
            </p:cNvSpPr>
            <p:nvPr/>
          </p:nvSpPr>
          <p:spPr>
            <a:xfrm>
              <a:off x="7383394" y="4456949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EE26A33C-792D-45E2-B3FE-83EF41C880BE}"/>
                </a:ext>
              </a:extLst>
            </p:cNvPr>
            <p:cNvSpPr>
              <a:spLocks/>
            </p:cNvSpPr>
            <p:nvPr/>
          </p:nvSpPr>
          <p:spPr>
            <a:xfrm>
              <a:off x="7496241" y="4550319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79" name="타원 178">
              <a:extLst>
                <a:ext uri="{FF2B5EF4-FFF2-40B4-BE49-F238E27FC236}">
                  <a16:creationId xmlns:a16="http://schemas.microsoft.com/office/drawing/2014/main" id="{E35F8F34-A0FD-46D2-95BC-09CD04DCB92B}"/>
                </a:ext>
              </a:extLst>
            </p:cNvPr>
            <p:cNvSpPr>
              <a:spLocks/>
            </p:cNvSpPr>
            <p:nvPr/>
          </p:nvSpPr>
          <p:spPr>
            <a:xfrm>
              <a:off x="7876164" y="4080125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0" name="타원 179">
              <a:extLst>
                <a:ext uri="{FF2B5EF4-FFF2-40B4-BE49-F238E27FC236}">
                  <a16:creationId xmlns:a16="http://schemas.microsoft.com/office/drawing/2014/main" id="{02DC1EC3-50C1-4A02-9B73-0000C7DD05DB}"/>
                </a:ext>
              </a:extLst>
            </p:cNvPr>
            <p:cNvSpPr>
              <a:spLocks/>
            </p:cNvSpPr>
            <p:nvPr/>
          </p:nvSpPr>
          <p:spPr>
            <a:xfrm>
              <a:off x="7940114" y="4183501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F1995CD3-6E7C-4E97-BED7-8872E4378F37}"/>
                </a:ext>
              </a:extLst>
            </p:cNvPr>
            <p:cNvSpPr>
              <a:spLocks/>
            </p:cNvSpPr>
            <p:nvPr/>
          </p:nvSpPr>
          <p:spPr>
            <a:xfrm>
              <a:off x="7958923" y="4300216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2" name="타원 181">
              <a:extLst>
                <a:ext uri="{FF2B5EF4-FFF2-40B4-BE49-F238E27FC236}">
                  <a16:creationId xmlns:a16="http://schemas.microsoft.com/office/drawing/2014/main" id="{DA53CC7C-EE12-443F-80C9-43173BC5CB40}"/>
                </a:ext>
              </a:extLst>
            </p:cNvPr>
            <p:cNvSpPr>
              <a:spLocks/>
            </p:cNvSpPr>
            <p:nvPr/>
          </p:nvSpPr>
          <p:spPr>
            <a:xfrm>
              <a:off x="7789654" y="4143487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3" name="타원 182">
              <a:extLst>
                <a:ext uri="{FF2B5EF4-FFF2-40B4-BE49-F238E27FC236}">
                  <a16:creationId xmlns:a16="http://schemas.microsoft.com/office/drawing/2014/main" id="{486C2B52-BE1B-4811-8C1C-07CA1298E2AA}"/>
                </a:ext>
              </a:extLst>
            </p:cNvPr>
            <p:cNvSpPr>
              <a:spLocks/>
            </p:cNvSpPr>
            <p:nvPr/>
          </p:nvSpPr>
          <p:spPr>
            <a:xfrm>
              <a:off x="7898741" y="4393589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4" name="타원 183">
              <a:extLst>
                <a:ext uri="{FF2B5EF4-FFF2-40B4-BE49-F238E27FC236}">
                  <a16:creationId xmlns:a16="http://schemas.microsoft.com/office/drawing/2014/main" id="{0EE3D87B-1606-4512-832A-FACDF873A1A2}"/>
                </a:ext>
              </a:extLst>
            </p:cNvPr>
            <p:cNvSpPr>
              <a:spLocks/>
            </p:cNvSpPr>
            <p:nvPr/>
          </p:nvSpPr>
          <p:spPr>
            <a:xfrm>
              <a:off x="7744516" y="4503634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5" name="타원 184">
              <a:extLst>
                <a:ext uri="{FF2B5EF4-FFF2-40B4-BE49-F238E27FC236}">
                  <a16:creationId xmlns:a16="http://schemas.microsoft.com/office/drawing/2014/main" id="{1F2B4C0B-8F06-4143-887C-D6237FA1DEF2}"/>
                </a:ext>
              </a:extLst>
            </p:cNvPr>
            <p:cNvSpPr>
              <a:spLocks/>
            </p:cNvSpPr>
            <p:nvPr/>
          </p:nvSpPr>
          <p:spPr>
            <a:xfrm>
              <a:off x="7956367" y="4118713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6" name="타원 185">
              <a:extLst>
                <a:ext uri="{FF2B5EF4-FFF2-40B4-BE49-F238E27FC236}">
                  <a16:creationId xmlns:a16="http://schemas.microsoft.com/office/drawing/2014/main" id="{0374C6D4-EE62-4FC3-B974-DE143DC646D6}"/>
                </a:ext>
              </a:extLst>
            </p:cNvPr>
            <p:cNvSpPr>
              <a:spLocks/>
            </p:cNvSpPr>
            <p:nvPr/>
          </p:nvSpPr>
          <p:spPr>
            <a:xfrm>
              <a:off x="7891815" y="4298224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7" name="타원 186">
              <a:extLst>
                <a:ext uri="{FF2B5EF4-FFF2-40B4-BE49-F238E27FC236}">
                  <a16:creationId xmlns:a16="http://schemas.microsoft.com/office/drawing/2014/main" id="{470D2DFF-0D62-4AC1-855A-3388CC7E5024}"/>
                </a:ext>
              </a:extLst>
            </p:cNvPr>
            <p:cNvSpPr>
              <a:spLocks/>
            </p:cNvSpPr>
            <p:nvPr/>
          </p:nvSpPr>
          <p:spPr>
            <a:xfrm>
              <a:off x="7893772" y="4145554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F8995FA3-A3EA-48DB-ABE8-A8723A489C00}"/>
                </a:ext>
              </a:extLst>
            </p:cNvPr>
            <p:cNvSpPr>
              <a:spLocks/>
            </p:cNvSpPr>
            <p:nvPr/>
          </p:nvSpPr>
          <p:spPr>
            <a:xfrm>
              <a:off x="7408667" y="4181473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89" name="타원 188">
              <a:extLst>
                <a:ext uri="{FF2B5EF4-FFF2-40B4-BE49-F238E27FC236}">
                  <a16:creationId xmlns:a16="http://schemas.microsoft.com/office/drawing/2014/main" id="{58C16CFF-92CD-415A-AC5B-936C4FB2D5E0}"/>
                </a:ext>
              </a:extLst>
            </p:cNvPr>
            <p:cNvSpPr>
              <a:spLocks/>
            </p:cNvSpPr>
            <p:nvPr/>
          </p:nvSpPr>
          <p:spPr>
            <a:xfrm>
              <a:off x="7301077" y="4173085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190" name="타원 189">
              <a:extLst>
                <a:ext uri="{FF2B5EF4-FFF2-40B4-BE49-F238E27FC236}">
                  <a16:creationId xmlns:a16="http://schemas.microsoft.com/office/drawing/2014/main" id="{6E72D455-687F-448D-8FD4-AED50B39C742}"/>
                </a:ext>
              </a:extLst>
            </p:cNvPr>
            <p:cNvSpPr>
              <a:spLocks/>
            </p:cNvSpPr>
            <p:nvPr/>
          </p:nvSpPr>
          <p:spPr>
            <a:xfrm>
              <a:off x="7848194" y="4485185"/>
              <a:ext cx="30498" cy="26155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962A55EC-C8D5-4A66-BE09-1587B19E568A}"/>
              </a:ext>
            </a:extLst>
          </p:cNvPr>
          <p:cNvGrpSpPr/>
          <p:nvPr/>
        </p:nvGrpSpPr>
        <p:grpSpPr>
          <a:xfrm>
            <a:off x="1055410" y="2542076"/>
            <a:ext cx="1514895" cy="265429"/>
            <a:chOff x="7467336" y="2609638"/>
            <a:chExt cx="1353449" cy="330397"/>
          </a:xfrm>
        </p:grpSpPr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D01A4169-76BD-4F28-A396-9B210D169C00}"/>
                </a:ext>
              </a:extLst>
            </p:cNvPr>
            <p:cNvSpPr/>
            <p:nvPr/>
          </p:nvSpPr>
          <p:spPr>
            <a:xfrm>
              <a:off x="7467336" y="2677882"/>
              <a:ext cx="180663" cy="179247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2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7F99E44-DAF5-4972-A3F5-6638A9666C45}"/>
                </a:ext>
              </a:extLst>
            </p:cNvPr>
            <p:cNvSpPr txBox="1"/>
            <p:nvPr/>
          </p:nvSpPr>
          <p:spPr>
            <a:xfrm>
              <a:off x="7623117" y="2609638"/>
              <a:ext cx="1197668" cy="330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토큰화 및 벡터화</a:t>
              </a: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8D5425D2-922B-4999-A1A3-34FC545015A0}"/>
              </a:ext>
            </a:extLst>
          </p:cNvPr>
          <p:cNvGrpSpPr/>
          <p:nvPr/>
        </p:nvGrpSpPr>
        <p:grpSpPr>
          <a:xfrm>
            <a:off x="1051926" y="3650605"/>
            <a:ext cx="1274911" cy="265429"/>
            <a:chOff x="7464225" y="3620271"/>
            <a:chExt cx="1139041" cy="330397"/>
          </a:xfrm>
        </p:grpSpPr>
        <p:sp>
          <p:nvSpPr>
            <p:cNvPr id="163" name="직사각형 162">
              <a:extLst>
                <a:ext uri="{FF2B5EF4-FFF2-40B4-BE49-F238E27FC236}">
                  <a16:creationId xmlns:a16="http://schemas.microsoft.com/office/drawing/2014/main" id="{E572DA89-B2BB-4EF7-B4CE-F30CD14D6180}"/>
                </a:ext>
              </a:extLst>
            </p:cNvPr>
            <p:cNvSpPr/>
            <p:nvPr/>
          </p:nvSpPr>
          <p:spPr>
            <a:xfrm>
              <a:off x="7464225" y="3679232"/>
              <a:ext cx="180663" cy="179248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B6E32122-12B9-4269-9F3F-93A7075817DB}"/>
                </a:ext>
              </a:extLst>
            </p:cNvPr>
            <p:cNvSpPr txBox="1"/>
            <p:nvPr/>
          </p:nvSpPr>
          <p:spPr>
            <a:xfrm>
              <a:off x="7620005" y="3620271"/>
              <a:ext cx="983261" cy="330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벡터 </a:t>
              </a:r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DB </a:t>
              </a:r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조회</a:t>
              </a:r>
            </a:p>
          </p:txBody>
        </p:sp>
      </p:grpSp>
      <p:pic>
        <p:nvPicPr>
          <p:cNvPr id="149" name="그림 148">
            <a:extLst>
              <a:ext uri="{FF2B5EF4-FFF2-40B4-BE49-F238E27FC236}">
                <a16:creationId xmlns:a16="http://schemas.microsoft.com/office/drawing/2014/main" id="{BEAE62E4-2FEA-4476-8489-1BFA0DED40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206" y="4687959"/>
            <a:ext cx="777393" cy="485763"/>
          </a:xfrm>
          <a:prstGeom prst="rect">
            <a:avLst/>
          </a:prstGeom>
        </p:spPr>
      </p:pic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C560A71E-7ABC-4F6C-B4E3-F397B0968E6E}"/>
              </a:ext>
            </a:extLst>
          </p:cNvPr>
          <p:cNvSpPr/>
          <p:nvPr/>
        </p:nvSpPr>
        <p:spPr>
          <a:xfrm>
            <a:off x="1142660" y="2878969"/>
            <a:ext cx="1789415" cy="547489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89B06A5F-1A01-475C-A345-47533D192D52}"/>
              </a:ext>
            </a:extLst>
          </p:cNvPr>
          <p:cNvGrpSpPr/>
          <p:nvPr/>
        </p:nvGrpSpPr>
        <p:grpSpPr>
          <a:xfrm>
            <a:off x="1100666" y="4441873"/>
            <a:ext cx="756551" cy="265429"/>
            <a:chOff x="7507768" y="4605212"/>
            <a:chExt cx="675924" cy="330398"/>
          </a:xfrm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DD47FEE1-2F29-4E84-B62B-422CD49FF7CF}"/>
                </a:ext>
              </a:extLst>
            </p:cNvPr>
            <p:cNvSpPr/>
            <p:nvPr/>
          </p:nvSpPr>
          <p:spPr>
            <a:xfrm>
              <a:off x="7507768" y="4675594"/>
              <a:ext cx="180663" cy="179247"/>
            </a:xfrm>
            <a:prstGeom prst="rect">
              <a:avLst/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</a:t>
              </a:r>
              <a:endParaRPr lang="ko-KR" altLang="en-US" sz="110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52ED263-C3C1-4871-AEC9-F65D2AF4A358}"/>
                </a:ext>
              </a:extLst>
            </p:cNvPr>
            <p:cNvSpPr txBox="1"/>
            <p:nvPr/>
          </p:nvSpPr>
          <p:spPr>
            <a:xfrm>
              <a:off x="7698705" y="4605212"/>
              <a:ext cx="484987" cy="3303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LLM </a:t>
              </a:r>
              <a:endPara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C415B257-29E3-4F84-8FDC-38BC55B2D5B1}"/>
              </a:ext>
            </a:extLst>
          </p:cNvPr>
          <p:cNvSpPr/>
          <p:nvPr/>
        </p:nvSpPr>
        <p:spPr>
          <a:xfrm>
            <a:off x="1092536" y="4713417"/>
            <a:ext cx="954631" cy="564688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30DD2F60-2FD7-41AB-9B75-4E5224A0BECA}"/>
              </a:ext>
            </a:extLst>
          </p:cNvPr>
          <p:cNvSpPr/>
          <p:nvPr/>
        </p:nvSpPr>
        <p:spPr>
          <a:xfrm>
            <a:off x="2184463" y="4710261"/>
            <a:ext cx="1725028" cy="564688"/>
          </a:xfrm>
          <a:prstGeom prst="roundRect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사단의 무기는 평균정도 있습니다</a:t>
            </a:r>
            <a:r>
              <a:rPr lang="en-US" altLang="ko-KR" sz="1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1279CCF1-B034-4125-9EE7-D891890C4020}"/>
              </a:ext>
            </a:extLst>
          </p:cNvPr>
          <p:cNvSpPr txBox="1"/>
          <p:nvPr/>
        </p:nvSpPr>
        <p:spPr>
          <a:xfrm>
            <a:off x="5047862" y="967277"/>
            <a:ext cx="21098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일반 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접근 방식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3209351-7DC0-4F61-AAA3-56D87914A8F7}"/>
              </a:ext>
            </a:extLst>
          </p:cNvPr>
          <p:cNvGrpSpPr/>
          <p:nvPr/>
        </p:nvGrpSpPr>
        <p:grpSpPr>
          <a:xfrm>
            <a:off x="8273132" y="4056443"/>
            <a:ext cx="712054" cy="671417"/>
            <a:chOff x="8074090" y="4106209"/>
            <a:chExt cx="712054" cy="671417"/>
          </a:xfrm>
        </p:grpSpPr>
        <p:pic>
          <p:nvPicPr>
            <p:cNvPr id="202" name="그림 201">
              <a:extLst>
                <a:ext uri="{FF2B5EF4-FFF2-40B4-BE49-F238E27FC236}">
                  <a16:creationId xmlns:a16="http://schemas.microsoft.com/office/drawing/2014/main" id="{6662B060-5A3F-4E98-AD00-D25156DB85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7202" y="4106209"/>
              <a:ext cx="461316" cy="377067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FB0840B-DFA2-434F-9D25-BC5FD511772C}"/>
                </a:ext>
              </a:extLst>
            </p:cNvPr>
            <p:cNvSpPr txBox="1"/>
            <p:nvPr/>
          </p:nvSpPr>
          <p:spPr>
            <a:xfrm>
              <a:off x="8074090" y="4516016"/>
              <a:ext cx="7120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사단 </a:t>
              </a:r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DB</a:t>
              </a:r>
              <a:endPara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315A557-F2E6-4664-8D00-E89FF333CE81}"/>
              </a:ext>
            </a:extLst>
          </p:cNvPr>
          <p:cNvCxnSpPr/>
          <p:nvPr/>
        </p:nvCxnSpPr>
        <p:spPr bwMode="auto">
          <a:xfrm>
            <a:off x="7632430" y="4192553"/>
            <a:ext cx="547396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903D5A34-C71A-4C09-A6E5-DED889C24916}"/>
              </a:ext>
            </a:extLst>
          </p:cNvPr>
          <p:cNvCxnSpPr/>
          <p:nvPr/>
        </p:nvCxnSpPr>
        <p:spPr bwMode="auto">
          <a:xfrm flipH="1">
            <a:off x="7601328" y="4410267"/>
            <a:ext cx="578498" cy="0"/>
          </a:xfrm>
          <a:prstGeom prst="straightConnector1">
            <a:avLst/>
          </a:prstGeom>
          <a:ln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12513E0B-BB77-4E02-9A8A-0166A9D92031}"/>
              </a:ext>
            </a:extLst>
          </p:cNvPr>
          <p:cNvSpPr txBox="1"/>
          <p:nvPr/>
        </p:nvSpPr>
        <p:spPr>
          <a:xfrm>
            <a:off x="796213" y="967277"/>
            <a:ext cx="1688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기존 질의 질문 방식</a:t>
            </a:r>
            <a:r>
              <a:rPr lang="en-US" altLang="ko-KR" sz="1200" b="1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378B07A4-BD78-41F6-B1F2-496320DAC136}"/>
              </a:ext>
            </a:extLst>
          </p:cNvPr>
          <p:cNvGrpSpPr/>
          <p:nvPr/>
        </p:nvGrpSpPr>
        <p:grpSpPr>
          <a:xfrm>
            <a:off x="5800274" y="3335365"/>
            <a:ext cx="576635" cy="311951"/>
            <a:chOff x="7183813" y="3990868"/>
            <a:chExt cx="857371" cy="832138"/>
          </a:xfrm>
        </p:grpSpPr>
        <p:sp>
          <p:nvSpPr>
            <p:cNvPr id="265" name="원통[C] 317">
              <a:extLst>
                <a:ext uri="{FF2B5EF4-FFF2-40B4-BE49-F238E27FC236}">
                  <a16:creationId xmlns:a16="http://schemas.microsoft.com/office/drawing/2014/main" id="{CDCA3CD6-82BE-4E6A-9B7B-52CCAEF42C93}"/>
                </a:ext>
              </a:extLst>
            </p:cNvPr>
            <p:cNvSpPr/>
            <p:nvPr/>
          </p:nvSpPr>
          <p:spPr>
            <a:xfrm>
              <a:off x="7183813" y="3990868"/>
              <a:ext cx="857371" cy="832138"/>
            </a:xfrm>
            <a:prstGeom prst="can">
              <a:avLst>
                <a:gd name="adj" fmla="val 24501"/>
              </a:avLst>
            </a:prstGeom>
            <a:noFill/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09539">
                <a:buClr>
                  <a:srgbClr val="000000"/>
                </a:buClr>
              </a:pPr>
              <a:endParaRPr kumimoji="1" lang="ko-Kore-KR" altLang="en-US" sz="933" kern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  <a:sym typeface="Arial"/>
              </a:endParaRPr>
            </a:p>
          </p:txBody>
        </p:sp>
        <p:sp>
          <p:nvSpPr>
            <p:cNvPr id="266" name="타원 265">
              <a:extLst>
                <a:ext uri="{FF2B5EF4-FFF2-40B4-BE49-F238E27FC236}">
                  <a16:creationId xmlns:a16="http://schemas.microsoft.com/office/drawing/2014/main" id="{2F8AC597-12E6-45EF-9AE4-7B99807F058C}"/>
                </a:ext>
              </a:extLst>
            </p:cNvPr>
            <p:cNvSpPr>
              <a:spLocks/>
            </p:cNvSpPr>
            <p:nvPr/>
          </p:nvSpPr>
          <p:spPr>
            <a:xfrm>
              <a:off x="7240453" y="4130146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67" name="타원 266">
              <a:extLst>
                <a:ext uri="{FF2B5EF4-FFF2-40B4-BE49-F238E27FC236}">
                  <a16:creationId xmlns:a16="http://schemas.microsoft.com/office/drawing/2014/main" id="{404EE88C-9FF2-46C4-8059-B9C1833A9BAA}"/>
                </a:ext>
              </a:extLst>
            </p:cNvPr>
            <p:cNvSpPr>
              <a:spLocks/>
            </p:cNvSpPr>
            <p:nvPr/>
          </p:nvSpPr>
          <p:spPr>
            <a:xfrm>
              <a:off x="7251739" y="4233522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68" name="타원 267">
              <a:extLst>
                <a:ext uri="{FF2B5EF4-FFF2-40B4-BE49-F238E27FC236}">
                  <a16:creationId xmlns:a16="http://schemas.microsoft.com/office/drawing/2014/main" id="{0788A1E0-AA41-4ACA-8452-3AA6A7AC3AF2}"/>
                </a:ext>
              </a:extLst>
            </p:cNvPr>
            <p:cNvSpPr>
              <a:spLocks/>
            </p:cNvSpPr>
            <p:nvPr/>
          </p:nvSpPr>
          <p:spPr>
            <a:xfrm>
              <a:off x="7372109" y="4240191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FDF84E5C-DEC6-4F79-AEDC-A1ABF823196E}"/>
                </a:ext>
              </a:extLst>
            </p:cNvPr>
            <p:cNvSpPr>
              <a:spLocks/>
            </p:cNvSpPr>
            <p:nvPr/>
          </p:nvSpPr>
          <p:spPr>
            <a:xfrm>
              <a:off x="7484957" y="4240191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0" name="타원 269">
              <a:extLst>
                <a:ext uri="{FF2B5EF4-FFF2-40B4-BE49-F238E27FC236}">
                  <a16:creationId xmlns:a16="http://schemas.microsoft.com/office/drawing/2014/main" id="{51EC32E9-8D95-4573-ACE1-05BF775128C9}"/>
                </a:ext>
              </a:extLst>
            </p:cNvPr>
            <p:cNvSpPr>
              <a:spLocks/>
            </p:cNvSpPr>
            <p:nvPr/>
          </p:nvSpPr>
          <p:spPr>
            <a:xfrm>
              <a:off x="7372109" y="4233522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045099E1-ABB2-4813-B233-C00CEC8E3D14}"/>
                </a:ext>
              </a:extLst>
            </p:cNvPr>
            <p:cNvSpPr>
              <a:spLocks/>
            </p:cNvSpPr>
            <p:nvPr/>
          </p:nvSpPr>
          <p:spPr>
            <a:xfrm>
              <a:off x="7800931" y="4240191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2" name="타원 271">
              <a:extLst>
                <a:ext uri="{FF2B5EF4-FFF2-40B4-BE49-F238E27FC236}">
                  <a16:creationId xmlns:a16="http://schemas.microsoft.com/office/drawing/2014/main" id="{D8909063-F265-47C3-BB85-F4CF6ACFDDB5}"/>
                </a:ext>
              </a:extLst>
            </p:cNvPr>
            <p:cNvSpPr>
              <a:spLocks/>
            </p:cNvSpPr>
            <p:nvPr/>
          </p:nvSpPr>
          <p:spPr>
            <a:xfrm>
              <a:off x="7349540" y="4353570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990CFB63-4FF7-4E4A-A70C-FCE87A9329FE}"/>
                </a:ext>
              </a:extLst>
            </p:cNvPr>
            <p:cNvSpPr>
              <a:spLocks/>
            </p:cNvSpPr>
            <p:nvPr/>
          </p:nvSpPr>
          <p:spPr>
            <a:xfrm>
              <a:off x="7488719" y="4370244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4" name="타원 273">
              <a:extLst>
                <a:ext uri="{FF2B5EF4-FFF2-40B4-BE49-F238E27FC236}">
                  <a16:creationId xmlns:a16="http://schemas.microsoft.com/office/drawing/2014/main" id="{ED0245D3-0C31-46E0-9DAD-8FA2DD3ADAFF}"/>
                </a:ext>
              </a:extLst>
            </p:cNvPr>
            <p:cNvSpPr>
              <a:spLocks/>
            </p:cNvSpPr>
            <p:nvPr/>
          </p:nvSpPr>
          <p:spPr>
            <a:xfrm>
              <a:off x="7259261" y="4453613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5" name="타원 274">
              <a:extLst>
                <a:ext uri="{FF2B5EF4-FFF2-40B4-BE49-F238E27FC236}">
                  <a16:creationId xmlns:a16="http://schemas.microsoft.com/office/drawing/2014/main" id="{376017C4-E8F5-463F-950B-E54D186B703C}"/>
                </a:ext>
              </a:extLst>
            </p:cNvPr>
            <p:cNvSpPr>
              <a:spLocks/>
            </p:cNvSpPr>
            <p:nvPr/>
          </p:nvSpPr>
          <p:spPr>
            <a:xfrm>
              <a:off x="7383394" y="4456949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F3D4060B-AC1A-49DA-9384-6A07512CD444}"/>
                </a:ext>
              </a:extLst>
            </p:cNvPr>
            <p:cNvSpPr>
              <a:spLocks/>
            </p:cNvSpPr>
            <p:nvPr/>
          </p:nvSpPr>
          <p:spPr>
            <a:xfrm>
              <a:off x="7496241" y="4550319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7" name="타원 276">
              <a:extLst>
                <a:ext uri="{FF2B5EF4-FFF2-40B4-BE49-F238E27FC236}">
                  <a16:creationId xmlns:a16="http://schemas.microsoft.com/office/drawing/2014/main" id="{1D20D2F3-DCD4-43ED-B9A5-A879E420215F}"/>
                </a:ext>
              </a:extLst>
            </p:cNvPr>
            <p:cNvSpPr>
              <a:spLocks/>
            </p:cNvSpPr>
            <p:nvPr/>
          </p:nvSpPr>
          <p:spPr>
            <a:xfrm>
              <a:off x="7876164" y="4080125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AC02E965-CADA-49D4-B60C-0D2A05F646A3}"/>
                </a:ext>
              </a:extLst>
            </p:cNvPr>
            <p:cNvSpPr>
              <a:spLocks/>
            </p:cNvSpPr>
            <p:nvPr/>
          </p:nvSpPr>
          <p:spPr>
            <a:xfrm>
              <a:off x="7940114" y="4183501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79" name="타원 278">
              <a:extLst>
                <a:ext uri="{FF2B5EF4-FFF2-40B4-BE49-F238E27FC236}">
                  <a16:creationId xmlns:a16="http://schemas.microsoft.com/office/drawing/2014/main" id="{6BD7A177-1EF5-48D2-9B76-EC6FE5B15445}"/>
                </a:ext>
              </a:extLst>
            </p:cNvPr>
            <p:cNvSpPr>
              <a:spLocks/>
            </p:cNvSpPr>
            <p:nvPr/>
          </p:nvSpPr>
          <p:spPr>
            <a:xfrm>
              <a:off x="7958923" y="4300216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0" name="타원 279">
              <a:extLst>
                <a:ext uri="{FF2B5EF4-FFF2-40B4-BE49-F238E27FC236}">
                  <a16:creationId xmlns:a16="http://schemas.microsoft.com/office/drawing/2014/main" id="{652E001B-E390-4628-87A7-C791875CEF0A}"/>
                </a:ext>
              </a:extLst>
            </p:cNvPr>
            <p:cNvSpPr>
              <a:spLocks/>
            </p:cNvSpPr>
            <p:nvPr/>
          </p:nvSpPr>
          <p:spPr>
            <a:xfrm>
              <a:off x="7789654" y="4143487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1" name="타원 280">
              <a:extLst>
                <a:ext uri="{FF2B5EF4-FFF2-40B4-BE49-F238E27FC236}">
                  <a16:creationId xmlns:a16="http://schemas.microsoft.com/office/drawing/2014/main" id="{F73FF734-05EF-4B07-A77D-2EB9E318B993}"/>
                </a:ext>
              </a:extLst>
            </p:cNvPr>
            <p:cNvSpPr>
              <a:spLocks/>
            </p:cNvSpPr>
            <p:nvPr/>
          </p:nvSpPr>
          <p:spPr>
            <a:xfrm>
              <a:off x="7898741" y="4393589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2" name="타원 281">
              <a:extLst>
                <a:ext uri="{FF2B5EF4-FFF2-40B4-BE49-F238E27FC236}">
                  <a16:creationId xmlns:a16="http://schemas.microsoft.com/office/drawing/2014/main" id="{DF65FFB8-ADCA-4A21-A932-62D2581FA884}"/>
                </a:ext>
              </a:extLst>
            </p:cNvPr>
            <p:cNvSpPr>
              <a:spLocks/>
            </p:cNvSpPr>
            <p:nvPr/>
          </p:nvSpPr>
          <p:spPr>
            <a:xfrm>
              <a:off x="7744516" y="4503634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3" name="타원 282">
              <a:extLst>
                <a:ext uri="{FF2B5EF4-FFF2-40B4-BE49-F238E27FC236}">
                  <a16:creationId xmlns:a16="http://schemas.microsoft.com/office/drawing/2014/main" id="{8D43BFDB-40F8-4999-B220-812F7C6FD07E}"/>
                </a:ext>
              </a:extLst>
            </p:cNvPr>
            <p:cNvSpPr>
              <a:spLocks/>
            </p:cNvSpPr>
            <p:nvPr/>
          </p:nvSpPr>
          <p:spPr>
            <a:xfrm>
              <a:off x="7956367" y="4118713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4" name="타원 283">
              <a:extLst>
                <a:ext uri="{FF2B5EF4-FFF2-40B4-BE49-F238E27FC236}">
                  <a16:creationId xmlns:a16="http://schemas.microsoft.com/office/drawing/2014/main" id="{3D225045-544E-40C8-B668-49A8E7593278}"/>
                </a:ext>
              </a:extLst>
            </p:cNvPr>
            <p:cNvSpPr>
              <a:spLocks/>
            </p:cNvSpPr>
            <p:nvPr/>
          </p:nvSpPr>
          <p:spPr>
            <a:xfrm>
              <a:off x="7891815" y="4298224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5" name="타원 284">
              <a:extLst>
                <a:ext uri="{FF2B5EF4-FFF2-40B4-BE49-F238E27FC236}">
                  <a16:creationId xmlns:a16="http://schemas.microsoft.com/office/drawing/2014/main" id="{B2DCF0A9-FEFF-4011-BF10-3B1AABE2FE17}"/>
                </a:ext>
              </a:extLst>
            </p:cNvPr>
            <p:cNvSpPr>
              <a:spLocks/>
            </p:cNvSpPr>
            <p:nvPr/>
          </p:nvSpPr>
          <p:spPr>
            <a:xfrm>
              <a:off x="7893772" y="4145554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6" name="타원 285">
              <a:extLst>
                <a:ext uri="{FF2B5EF4-FFF2-40B4-BE49-F238E27FC236}">
                  <a16:creationId xmlns:a16="http://schemas.microsoft.com/office/drawing/2014/main" id="{5C870AA4-96E4-4DB2-8DC9-BECD57159B75}"/>
                </a:ext>
              </a:extLst>
            </p:cNvPr>
            <p:cNvSpPr>
              <a:spLocks/>
            </p:cNvSpPr>
            <p:nvPr/>
          </p:nvSpPr>
          <p:spPr>
            <a:xfrm>
              <a:off x="7408667" y="4181473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7" name="타원 286">
              <a:extLst>
                <a:ext uri="{FF2B5EF4-FFF2-40B4-BE49-F238E27FC236}">
                  <a16:creationId xmlns:a16="http://schemas.microsoft.com/office/drawing/2014/main" id="{2D9727BF-16C1-46B1-A300-B6641CC9F529}"/>
                </a:ext>
              </a:extLst>
            </p:cNvPr>
            <p:cNvSpPr>
              <a:spLocks/>
            </p:cNvSpPr>
            <p:nvPr/>
          </p:nvSpPr>
          <p:spPr>
            <a:xfrm>
              <a:off x="7301077" y="4173085"/>
              <a:ext cx="30498" cy="26156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  <p:sp>
          <p:nvSpPr>
            <p:cNvPr id="288" name="타원 287">
              <a:extLst>
                <a:ext uri="{FF2B5EF4-FFF2-40B4-BE49-F238E27FC236}">
                  <a16:creationId xmlns:a16="http://schemas.microsoft.com/office/drawing/2014/main" id="{3C0C8F75-CC81-49FD-A987-A758A67FD11B}"/>
                </a:ext>
              </a:extLst>
            </p:cNvPr>
            <p:cNvSpPr>
              <a:spLocks/>
            </p:cNvSpPr>
            <p:nvPr/>
          </p:nvSpPr>
          <p:spPr>
            <a:xfrm>
              <a:off x="7848194" y="4485185"/>
              <a:ext cx="30498" cy="26155"/>
            </a:xfrm>
            <a:prstGeom prst="ellipse">
              <a:avLst/>
            </a:prstGeom>
            <a:solidFill>
              <a:srgbClr val="FFC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함초롬바탕" panose="020306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17166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>
            <a:extLst>
              <a:ext uri="{FF2B5EF4-FFF2-40B4-BE49-F238E27FC236}">
                <a16:creationId xmlns:a16="http://schemas.microsoft.com/office/drawing/2014/main" id="{3DFE538E-D2C2-4E87-9998-EA74587D9806}"/>
              </a:ext>
            </a:extLst>
          </p:cNvPr>
          <p:cNvGrpSpPr/>
          <p:nvPr/>
        </p:nvGrpSpPr>
        <p:grpSpPr>
          <a:xfrm>
            <a:off x="513183" y="1032589"/>
            <a:ext cx="9262188" cy="5044750"/>
            <a:chOff x="317444" y="699896"/>
            <a:chExt cx="9492139" cy="598081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D0DA6F4A-87AF-41DF-9189-CCB4F8027323}"/>
                </a:ext>
              </a:extLst>
            </p:cNvPr>
            <p:cNvSpPr/>
            <p:nvPr/>
          </p:nvSpPr>
          <p:spPr>
            <a:xfrm>
              <a:off x="6421173" y="999791"/>
              <a:ext cx="1802208" cy="4712125"/>
            </a:xfrm>
            <a:prstGeom prst="roundRect">
              <a:avLst>
                <a:gd name="adj" fmla="val 7888"/>
              </a:avLst>
            </a:prstGeom>
            <a:noFill/>
            <a:ln>
              <a:solidFill>
                <a:srgbClr val="B0C7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0D79A050-AD30-41AA-B121-4494EFCA9A50}"/>
                </a:ext>
              </a:extLst>
            </p:cNvPr>
            <p:cNvGrpSpPr/>
            <p:nvPr/>
          </p:nvGrpSpPr>
          <p:grpSpPr>
            <a:xfrm>
              <a:off x="385791" y="727780"/>
              <a:ext cx="992903" cy="1670538"/>
              <a:chOff x="488504" y="1113453"/>
              <a:chExt cx="1094943" cy="1891004"/>
            </a:xfrm>
          </p:grpSpPr>
          <p:sp>
            <p:nvSpPr>
              <p:cNvPr id="111" name="사각형: 둥근 모서리 110">
                <a:extLst>
                  <a:ext uri="{FF2B5EF4-FFF2-40B4-BE49-F238E27FC236}">
                    <a16:creationId xmlns:a16="http://schemas.microsoft.com/office/drawing/2014/main" id="{5F12A18D-6F7F-46EF-BD6E-C863D172E9C7}"/>
                  </a:ext>
                </a:extLst>
              </p:cNvPr>
              <p:cNvSpPr/>
              <p:nvPr/>
            </p:nvSpPr>
            <p:spPr>
              <a:xfrm>
                <a:off x="488504" y="1394114"/>
                <a:ext cx="1094943" cy="1610343"/>
              </a:xfrm>
              <a:prstGeom prst="roundRect">
                <a:avLst>
                  <a:gd name="adj" fmla="val 5791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12" name="TextBox 111">
                <a:extLst>
                  <a:ext uri="{FF2B5EF4-FFF2-40B4-BE49-F238E27FC236}">
                    <a16:creationId xmlns:a16="http://schemas.microsoft.com/office/drawing/2014/main" id="{0F921612-04A4-4E52-AB89-E71A15DEC2B8}"/>
                  </a:ext>
                </a:extLst>
              </p:cNvPr>
              <p:cNvSpPr txBox="1"/>
              <p:nvPr/>
            </p:nvSpPr>
            <p:spPr>
              <a:xfrm>
                <a:off x="570361" y="1113453"/>
                <a:ext cx="203716" cy="296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113" name="그림 112">
                <a:extLst>
                  <a:ext uri="{FF2B5EF4-FFF2-40B4-BE49-F238E27FC236}">
                    <a16:creationId xmlns:a16="http://schemas.microsoft.com/office/drawing/2014/main" id="{4246D55F-8D8C-4BC5-A89B-B0F37A8283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3982" y="1611259"/>
                <a:ext cx="334042" cy="334042"/>
              </a:xfrm>
              <a:prstGeom prst="rect">
                <a:avLst/>
              </a:prstGeom>
            </p:spPr>
          </p:pic>
          <p:pic>
            <p:nvPicPr>
              <p:cNvPr id="115" name="그림 114">
                <a:extLst>
                  <a:ext uri="{FF2B5EF4-FFF2-40B4-BE49-F238E27FC236}">
                    <a16:creationId xmlns:a16="http://schemas.microsoft.com/office/drawing/2014/main" id="{C6375471-77BC-454B-851A-70930D0841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59235" y="1617828"/>
                <a:ext cx="394423" cy="394424"/>
              </a:xfrm>
              <a:prstGeom prst="rect">
                <a:avLst/>
              </a:prstGeom>
            </p:spPr>
          </p:pic>
          <p:pic>
            <p:nvPicPr>
              <p:cNvPr id="116" name="그림 115">
                <a:extLst>
                  <a:ext uri="{FF2B5EF4-FFF2-40B4-BE49-F238E27FC236}">
                    <a16:creationId xmlns:a16="http://schemas.microsoft.com/office/drawing/2014/main" id="{3043E175-1DFB-43AD-A256-22CD489CE1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10016" y="2344474"/>
                <a:ext cx="293879" cy="293879"/>
              </a:xfrm>
              <a:prstGeom prst="rect">
                <a:avLst/>
              </a:prstGeom>
            </p:spPr>
          </p:pic>
          <p:pic>
            <p:nvPicPr>
              <p:cNvPr id="117" name="그림 116">
                <a:extLst>
                  <a:ext uri="{FF2B5EF4-FFF2-40B4-BE49-F238E27FC236}">
                    <a16:creationId xmlns:a16="http://schemas.microsoft.com/office/drawing/2014/main" id="{26BD7498-C35D-409C-B7F3-ED2D319960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0884" y="2275135"/>
                <a:ext cx="362237" cy="362237"/>
              </a:xfrm>
              <a:prstGeom prst="rect">
                <a:avLst/>
              </a:prstGeom>
            </p:spPr>
          </p:pic>
        </p:grp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6E4168C-BC74-43C4-8C55-428A5E446D3D}"/>
                </a:ext>
              </a:extLst>
            </p:cNvPr>
            <p:cNvSpPr/>
            <p:nvPr/>
          </p:nvSpPr>
          <p:spPr>
            <a:xfrm>
              <a:off x="3823621" y="1541063"/>
              <a:ext cx="1477867" cy="3132257"/>
            </a:xfrm>
            <a:prstGeom prst="roundRect">
              <a:avLst>
                <a:gd name="adj" fmla="val 7888"/>
              </a:avLst>
            </a:prstGeom>
            <a:solidFill>
              <a:srgbClr val="D3EEF7"/>
            </a:solidFill>
            <a:ln>
              <a:solidFill>
                <a:srgbClr val="B0C7D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A780F215-54E0-4ECB-8B55-E4B6D1A72405}"/>
                </a:ext>
              </a:extLst>
            </p:cNvPr>
            <p:cNvSpPr/>
            <p:nvPr/>
          </p:nvSpPr>
          <p:spPr>
            <a:xfrm>
              <a:off x="4946124" y="2063106"/>
              <a:ext cx="733294" cy="2500311"/>
            </a:xfrm>
            <a:prstGeom prst="roundRect">
              <a:avLst>
                <a:gd name="adj" fmla="val 7233"/>
              </a:avLst>
            </a:prstGeom>
            <a:solidFill>
              <a:srgbClr val="00537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NCross</a:t>
              </a:r>
            </a:p>
            <a:p>
              <a:pPr algn="ctr"/>
              <a:r>
                <a:rPr lang="en-US" altLang="ko-KR" sz="11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MQTT</a:t>
              </a:r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78768326-79DA-450B-8E62-62DF825770BD}"/>
                </a:ext>
              </a:extLst>
            </p:cNvPr>
            <p:cNvSpPr/>
            <p:nvPr/>
          </p:nvSpPr>
          <p:spPr>
            <a:xfrm>
              <a:off x="4646646" y="3167639"/>
              <a:ext cx="745093" cy="544024"/>
            </a:xfrm>
            <a:prstGeom prst="roundRect">
              <a:avLst/>
            </a:prstGeom>
            <a:solidFill>
              <a:srgbClr val="9BD3E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Queue</a:t>
              </a:r>
            </a:p>
            <a:p>
              <a:pPr algn="ctr"/>
              <a:r>
                <a:rPr lang="en-US" altLang="ko-KR" sz="1000" b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Manaager</a:t>
              </a:r>
              <a:endParaRPr lang="ko-KR" altLang="en-US" sz="1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56452E01-3FE1-4326-AA20-7BEF08F3213B}"/>
                </a:ext>
              </a:extLst>
            </p:cNvPr>
            <p:cNvSpPr/>
            <p:nvPr/>
          </p:nvSpPr>
          <p:spPr>
            <a:xfrm>
              <a:off x="5033554" y="4008404"/>
              <a:ext cx="609198" cy="214312"/>
            </a:xfrm>
            <a:prstGeom prst="roundRect">
              <a:avLst/>
            </a:prstGeom>
            <a:solidFill>
              <a:srgbClr val="9DCC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Queue 2</a:t>
              </a:r>
              <a:endPara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5D1143E1-F977-4B26-8BC8-CC85CFB5C261}"/>
                </a:ext>
              </a:extLst>
            </p:cNvPr>
            <p:cNvSpPr/>
            <p:nvPr/>
          </p:nvSpPr>
          <p:spPr>
            <a:xfrm>
              <a:off x="5033554" y="4263930"/>
              <a:ext cx="609198" cy="214312"/>
            </a:xfrm>
            <a:prstGeom prst="roundRect">
              <a:avLst/>
            </a:prstGeom>
            <a:solidFill>
              <a:srgbClr val="9DCCE6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en-US" altLang="ko-KR" sz="10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Queue 3</a:t>
              </a:r>
              <a:endParaRPr lang="ko-KR" altLang="en-US" sz="1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F92568D-D62A-4D8C-9E79-30BBD132B717}"/>
                </a:ext>
              </a:extLst>
            </p:cNvPr>
            <p:cNvGrpSpPr/>
            <p:nvPr/>
          </p:nvGrpSpPr>
          <p:grpSpPr>
            <a:xfrm>
              <a:off x="4067267" y="1988920"/>
              <a:ext cx="523536" cy="497316"/>
              <a:chOff x="4069306" y="1887893"/>
              <a:chExt cx="577339" cy="562948"/>
            </a:xfrm>
          </p:grpSpPr>
          <p:pic>
            <p:nvPicPr>
              <p:cNvPr id="109" name="그림 108">
                <a:extLst>
                  <a:ext uri="{FF2B5EF4-FFF2-40B4-BE49-F238E27FC236}">
                    <a16:creationId xmlns:a16="http://schemas.microsoft.com/office/drawing/2014/main" id="{5D069E17-CA40-4514-932F-0491964520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69306" y="1887893"/>
                <a:ext cx="521355" cy="562948"/>
              </a:xfrm>
              <a:prstGeom prst="rect">
                <a:avLst/>
              </a:prstGeom>
            </p:spPr>
          </p:pic>
          <p:sp>
            <p:nvSpPr>
              <p:cNvPr id="110" name="순서도: 수행의 시작/종료 109">
                <a:extLst>
                  <a:ext uri="{FF2B5EF4-FFF2-40B4-BE49-F238E27FC236}">
                    <a16:creationId xmlns:a16="http://schemas.microsoft.com/office/drawing/2014/main" id="{42E4616B-FDB9-4EB6-B1B2-B472A3347AD3}"/>
                  </a:ext>
                </a:extLst>
              </p:cNvPr>
              <p:cNvSpPr/>
              <p:nvPr/>
            </p:nvSpPr>
            <p:spPr>
              <a:xfrm>
                <a:off x="4229878" y="2102498"/>
                <a:ext cx="416767" cy="186611"/>
              </a:xfrm>
              <a:prstGeom prst="flowChartTermina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1000" b="1">
                    <a:solidFill>
                      <a:srgbClr val="16608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DB</a:t>
                </a:r>
                <a:endParaRPr lang="ko-KR" altLang="en-US" sz="1000" b="1">
                  <a:solidFill>
                    <a:srgbClr val="16608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FCF0929B-22C7-4ED1-9B86-F41113C2055D}"/>
                </a:ext>
              </a:extLst>
            </p:cNvPr>
            <p:cNvGrpSpPr/>
            <p:nvPr/>
          </p:nvGrpSpPr>
          <p:grpSpPr>
            <a:xfrm>
              <a:off x="3948818" y="2543935"/>
              <a:ext cx="644760" cy="553941"/>
              <a:chOff x="3982276" y="2516155"/>
              <a:chExt cx="711022" cy="627046"/>
            </a:xfrm>
          </p:grpSpPr>
          <p:pic>
            <p:nvPicPr>
              <p:cNvPr id="107" name="그림 106">
                <a:extLst>
                  <a:ext uri="{FF2B5EF4-FFF2-40B4-BE49-F238E27FC236}">
                    <a16:creationId xmlns:a16="http://schemas.microsoft.com/office/drawing/2014/main" id="{5166D81E-C1C9-47ED-9E23-E6F2769757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colorTemperature colorTemp="112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82276" y="2516155"/>
                <a:ext cx="627046" cy="6270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8" name="순서도: 수행의 시작/종료 107">
                <a:extLst>
                  <a:ext uri="{FF2B5EF4-FFF2-40B4-BE49-F238E27FC236}">
                    <a16:creationId xmlns:a16="http://schemas.microsoft.com/office/drawing/2014/main" id="{62DB3949-1159-4FE6-AE81-8C9E48EECE82}"/>
                  </a:ext>
                </a:extLst>
              </p:cNvPr>
              <p:cNvSpPr/>
              <p:nvPr/>
            </p:nvSpPr>
            <p:spPr>
              <a:xfrm>
                <a:off x="4276531" y="2718318"/>
                <a:ext cx="416767" cy="251925"/>
              </a:xfrm>
              <a:prstGeom prst="flowChartTermina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1000" b="1">
                    <a:solidFill>
                      <a:srgbClr val="16608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File</a:t>
                </a:r>
                <a:endParaRPr lang="ko-KR" altLang="en-US" sz="1000" b="1">
                  <a:solidFill>
                    <a:srgbClr val="16608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E99EC71-1856-460C-BA43-8117BE815F51}"/>
                </a:ext>
              </a:extLst>
            </p:cNvPr>
            <p:cNvSpPr txBox="1"/>
            <p:nvPr/>
          </p:nvSpPr>
          <p:spPr>
            <a:xfrm>
              <a:off x="3983309" y="1569196"/>
              <a:ext cx="1218395" cy="265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ESB/EAI </a:t>
              </a:r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솔루션</a:t>
              </a: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6CFB84E6-8C55-4A39-9EAA-BA805195BCC0}"/>
                </a:ext>
              </a:extLst>
            </p:cNvPr>
            <p:cNvGrpSpPr/>
            <p:nvPr/>
          </p:nvGrpSpPr>
          <p:grpSpPr>
            <a:xfrm>
              <a:off x="4072913" y="3250066"/>
              <a:ext cx="585536" cy="582490"/>
              <a:chOff x="4072182" y="3315477"/>
              <a:chExt cx="645711" cy="659363"/>
            </a:xfrm>
          </p:grpSpPr>
          <p:pic>
            <p:nvPicPr>
              <p:cNvPr id="105" name="그림 104">
                <a:extLst>
                  <a:ext uri="{FF2B5EF4-FFF2-40B4-BE49-F238E27FC236}">
                    <a16:creationId xmlns:a16="http://schemas.microsoft.com/office/drawing/2014/main" id="{9C298BFB-A50C-40D0-8760-B215E0A623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072182" y="3315477"/>
                <a:ext cx="465606" cy="465606"/>
              </a:xfrm>
              <a:prstGeom prst="rect">
                <a:avLst/>
              </a:prstGeom>
            </p:spPr>
          </p:pic>
          <p:sp>
            <p:nvSpPr>
              <p:cNvPr id="106" name="순서도: 수행의 시작/종료 105">
                <a:extLst>
                  <a:ext uri="{FF2B5EF4-FFF2-40B4-BE49-F238E27FC236}">
                    <a16:creationId xmlns:a16="http://schemas.microsoft.com/office/drawing/2014/main" id="{50F7A7E1-9067-4876-AAAF-B16A138365E9}"/>
                  </a:ext>
                </a:extLst>
              </p:cNvPr>
              <p:cNvSpPr/>
              <p:nvPr/>
            </p:nvSpPr>
            <p:spPr>
              <a:xfrm>
                <a:off x="4170495" y="3729135"/>
                <a:ext cx="547398" cy="245705"/>
              </a:xfrm>
              <a:prstGeom prst="flowChartTerminator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ko-KR" altLang="en-US" sz="1000" b="1">
                    <a:solidFill>
                      <a:srgbClr val="16608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전송</a:t>
                </a:r>
              </a:p>
            </p:txBody>
          </p: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4F642B3B-78CD-4C14-9090-67BE3C56C1BD}"/>
                </a:ext>
              </a:extLst>
            </p:cNvPr>
            <p:cNvGrpSpPr/>
            <p:nvPr/>
          </p:nvGrpSpPr>
          <p:grpSpPr>
            <a:xfrm>
              <a:off x="6459754" y="1050211"/>
              <a:ext cx="3349829" cy="5630502"/>
              <a:chOff x="7439339" y="1316360"/>
              <a:chExt cx="3694090" cy="6373578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1020FFD-5CEA-45DC-9630-B611201B174D}"/>
                  </a:ext>
                </a:extLst>
              </p:cNvPr>
              <p:cNvSpPr txBox="1"/>
              <p:nvPr/>
            </p:nvSpPr>
            <p:spPr>
              <a:xfrm>
                <a:off x="7651104" y="1316360"/>
                <a:ext cx="1609633" cy="4877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RAG+LLM </a:t>
                </a:r>
                <a:r>
                  <a:rPr lang="ko-KR" altLang="en-US" sz="11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솔루션</a:t>
                </a:r>
                <a:endPara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11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  (CoreIQ)</a:t>
                </a:r>
                <a:endPara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7" name="사각형: 둥근 모서리 46">
                <a:extLst>
                  <a:ext uri="{FF2B5EF4-FFF2-40B4-BE49-F238E27FC236}">
                    <a16:creationId xmlns:a16="http://schemas.microsoft.com/office/drawing/2014/main" id="{33329556-47A1-48D2-8419-CBB810B3DFD1}"/>
                  </a:ext>
                </a:extLst>
              </p:cNvPr>
              <p:cNvSpPr/>
              <p:nvPr/>
            </p:nvSpPr>
            <p:spPr>
              <a:xfrm>
                <a:off x="7471790" y="2117824"/>
                <a:ext cx="1697092" cy="405138"/>
              </a:xfrm>
              <a:prstGeom prst="roundRect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ko-KR" sz="9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Ex) </a:t>
                </a:r>
                <a:r>
                  <a:rPr lang="ko-KR" altLang="en-US" sz="9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전철역별로 오픈된 </a:t>
                </a:r>
                <a:endParaRPr lang="en-US" altLang="ko-KR" sz="90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r>
                  <a:rPr lang="en-US" altLang="ko-KR" sz="9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   </a:t>
                </a:r>
                <a:r>
                  <a:rPr lang="ko-KR" altLang="en-US" sz="90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도어 개수 알려줘</a:t>
                </a:r>
              </a:p>
            </p:txBody>
          </p: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24440067-1977-4AFD-A988-1E9F78E9C82E}"/>
                  </a:ext>
                </a:extLst>
              </p:cNvPr>
              <p:cNvGrpSpPr/>
              <p:nvPr/>
            </p:nvGrpSpPr>
            <p:grpSpPr>
              <a:xfrm>
                <a:off x="7439339" y="1794810"/>
                <a:ext cx="1040007" cy="261296"/>
                <a:chOff x="7439339" y="1794810"/>
                <a:chExt cx="1040007" cy="261296"/>
              </a:xfrm>
            </p:grpSpPr>
            <p:sp>
              <p:nvSpPr>
                <p:cNvPr id="103" name="직사각형 102">
                  <a:extLst>
                    <a:ext uri="{FF2B5EF4-FFF2-40B4-BE49-F238E27FC236}">
                      <a16:creationId xmlns:a16="http://schemas.microsoft.com/office/drawing/2014/main" id="{F52B07BB-5E00-4F3A-83E4-AD52800B28B7}"/>
                    </a:ext>
                  </a:extLst>
                </p:cNvPr>
                <p:cNvSpPr/>
                <p:nvPr/>
              </p:nvSpPr>
              <p:spPr>
                <a:xfrm>
                  <a:off x="7439339" y="1872340"/>
                  <a:ext cx="180663" cy="179247"/>
                </a:xfrm>
                <a:prstGeom prst="rect">
                  <a:avLst/>
                </a:prstGeom>
                <a:solidFill>
                  <a:srgbClr val="00537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ko-KR" sz="105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1</a:t>
                  </a:r>
                  <a:endParaRPr lang="ko-KR" altLang="en-US" sz="105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768DB80-7BBF-47BC-BF9F-9EB7487A4BFB}"/>
                    </a:ext>
                  </a:extLst>
                </p:cNvPr>
                <p:cNvSpPr txBox="1"/>
                <p:nvPr/>
              </p:nvSpPr>
              <p:spPr>
                <a:xfrm>
                  <a:off x="7595120" y="1794810"/>
                  <a:ext cx="884226" cy="2612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사용자 입력</a:t>
                  </a:r>
                </a:p>
              </p:txBody>
            </p:sp>
          </p:grp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90DC6959-EC2E-4CEF-9746-6C5E077799AB}"/>
                  </a:ext>
                </a:extLst>
              </p:cNvPr>
              <p:cNvGrpSpPr/>
              <p:nvPr/>
            </p:nvGrpSpPr>
            <p:grpSpPr>
              <a:xfrm>
                <a:off x="7572673" y="2884240"/>
                <a:ext cx="550776" cy="570973"/>
                <a:chOff x="9345491" y="3356991"/>
                <a:chExt cx="550776" cy="570973"/>
              </a:xfrm>
            </p:grpSpPr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4624A19F-03BB-45C8-AE8F-43B2BAACD45B}"/>
                    </a:ext>
                  </a:extLst>
                </p:cNvPr>
                <p:cNvSpPr txBox="1"/>
                <p:nvPr/>
              </p:nvSpPr>
              <p:spPr>
                <a:xfrm>
                  <a:off x="9345491" y="3356991"/>
                  <a:ext cx="550776" cy="2438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 defTabSz="609539" latinLnBrk="1"/>
                  <a:r>
                    <a:rPr lang="ko-KR" altLang="en-US" sz="800" b="1">
                      <a:solidFill>
                        <a:srgbClr val="000000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Arial"/>
                      <a:sym typeface="Arial"/>
                    </a:rPr>
                    <a:t>토큰화</a:t>
                  </a:r>
                  <a:endParaRPr lang="en-US" altLang="ko-KR" sz="800" b="1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사각형: 둥근 모서리 33">
                  <a:extLst>
                    <a:ext uri="{FF2B5EF4-FFF2-40B4-BE49-F238E27FC236}">
                      <a16:creationId xmlns:a16="http://schemas.microsoft.com/office/drawing/2014/main" id="{73E2F321-FBE4-4CB9-8AA1-54457A0870B2}"/>
                    </a:ext>
                  </a:extLst>
                </p:cNvPr>
                <p:cNvSpPr/>
                <p:nvPr/>
              </p:nvSpPr>
              <p:spPr>
                <a:xfrm>
                  <a:off x="9458648" y="3616943"/>
                  <a:ext cx="338495" cy="311021"/>
                </a:xfrm>
                <a:prstGeom prst="roundRect">
                  <a:avLst>
                    <a:gd name="adj" fmla="val 1369"/>
                  </a:avLst>
                </a:prstGeom>
                <a:solidFill>
                  <a:schemeClr val="bg1"/>
                </a:solidFill>
                <a:ln w="12700" cap="flat" cmpd="sng">
                  <a:solidFill>
                    <a:srgbClr val="C00000"/>
                  </a:solidFill>
                  <a:prstDash val="sysDash"/>
                  <a:round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vert="horz" wrap="square" lIns="0" tIns="0" rIns="0" bIns="0" anchor="t" anchorCtr="0">
                  <a:noAutofit/>
                </a:bodyPr>
                <a:lstStyle/>
                <a:p>
                  <a:pPr algn="ctr" defTabSz="1219078">
                    <a:buClr>
                      <a:srgbClr val="26138E"/>
                    </a:buClr>
                    <a:buSzPts val="758"/>
                  </a:pPr>
                  <a:endParaRPr lang="en-US" altLang="ko-KR" sz="933" kern="0" dirty="0">
                    <a:solidFill>
                      <a:sysClr val="windowText" lastClr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/>
                    <a:sym typeface="Arial"/>
                  </a:endParaRPr>
                </a:p>
              </p:txBody>
            </p:sp>
            <p:pic>
              <p:nvPicPr>
                <p:cNvPr id="102" name="그래픽 101" descr="농작물 윤곽선">
                  <a:extLst>
                    <a:ext uri="{FF2B5EF4-FFF2-40B4-BE49-F238E27FC236}">
                      <a16:creationId xmlns:a16="http://schemas.microsoft.com/office/drawing/2014/main" id="{F915BC37-7EE4-4066-828B-DA47D947A8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489504" y="3610161"/>
                  <a:ext cx="283501" cy="283501"/>
                </a:xfrm>
                <a:prstGeom prst="rect">
                  <a:avLst/>
                </a:prstGeom>
              </p:spPr>
            </p:pic>
          </p:grp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EE204A81-5551-4E12-BA09-2D02527B668B}"/>
                  </a:ext>
                </a:extLst>
              </p:cNvPr>
              <p:cNvSpPr txBox="1"/>
              <p:nvPr/>
            </p:nvSpPr>
            <p:spPr>
              <a:xfrm>
                <a:off x="8239472" y="2885320"/>
                <a:ext cx="879758" cy="2478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609539" latinLnBrk="1"/>
                <a:r>
                  <a:rPr lang="ko-KR" altLang="en-US" sz="800" b="1" dirty="0" err="1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/>
                    <a:sym typeface="Arial"/>
                  </a:rPr>
                  <a:t>임베딩</a:t>
                </a:r>
                <a:r>
                  <a:rPr lang="ko-KR" altLang="en-US" sz="800" b="1" dirty="0">
                    <a:solidFill>
                      <a:srgbClr val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/>
                    <a:sym typeface="Arial"/>
                  </a:rPr>
                  <a:t> 생성</a:t>
                </a:r>
                <a:endParaRPr lang="en-US" altLang="ko-KR" sz="800" b="1" dirty="0">
                  <a:solidFill>
                    <a:srgbClr val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  <a:sym typeface="Arial"/>
                </a:endParaRPr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838A622D-2098-47AB-B8C4-0DE5E740573D}"/>
                  </a:ext>
                </a:extLst>
              </p:cNvPr>
              <p:cNvGrpSpPr/>
              <p:nvPr/>
            </p:nvGrpSpPr>
            <p:grpSpPr>
              <a:xfrm>
                <a:off x="8450963" y="3169075"/>
                <a:ext cx="338473" cy="317241"/>
                <a:chOff x="8295455" y="3094430"/>
                <a:chExt cx="382014" cy="317241"/>
              </a:xfrm>
            </p:grpSpPr>
            <p:sp>
              <p:nvSpPr>
                <p:cNvPr id="98" name="사각형: 둥근 모서리 33">
                  <a:extLst>
                    <a:ext uri="{FF2B5EF4-FFF2-40B4-BE49-F238E27FC236}">
                      <a16:creationId xmlns:a16="http://schemas.microsoft.com/office/drawing/2014/main" id="{5053C129-23FF-487F-864B-B1AC0B09C9CE}"/>
                    </a:ext>
                  </a:extLst>
                </p:cNvPr>
                <p:cNvSpPr/>
                <p:nvPr/>
              </p:nvSpPr>
              <p:spPr>
                <a:xfrm>
                  <a:off x="8295455" y="3094430"/>
                  <a:ext cx="382014" cy="317241"/>
                </a:xfrm>
                <a:prstGeom prst="roundRect">
                  <a:avLst>
                    <a:gd name="adj" fmla="val 1369"/>
                  </a:avLst>
                </a:prstGeom>
                <a:solidFill>
                  <a:schemeClr val="bg1"/>
                </a:solidFill>
                <a:ln w="12700" cap="flat" cmpd="sng">
                  <a:solidFill>
                    <a:srgbClr val="C00000"/>
                  </a:solidFill>
                  <a:prstDash val="sysDash"/>
                  <a:round/>
                  <a:headEnd type="none" w="sm" len="sm"/>
                  <a:tailEnd type="none" w="sm" len="sm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vert="horz" wrap="square" lIns="0" tIns="0" rIns="0" bIns="0" anchor="t" anchorCtr="0">
                  <a:noAutofit/>
                </a:bodyPr>
                <a:lstStyle/>
                <a:p>
                  <a:pPr algn="ctr" defTabSz="1219078">
                    <a:buClr>
                      <a:srgbClr val="26138E"/>
                    </a:buClr>
                    <a:buSzPts val="758"/>
                  </a:pPr>
                  <a:endParaRPr lang="en-US" altLang="ko-KR" sz="933" kern="0" dirty="0">
                    <a:solidFill>
                      <a:sysClr val="windowText" lastClr="00000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Arial"/>
                    <a:sym typeface="Arial"/>
                  </a:endParaRPr>
                </a:p>
              </p:txBody>
            </p:sp>
            <p:pic>
              <p:nvPicPr>
                <p:cNvPr id="99" name="Picture 8" descr="embedding icon from technology collection. Filled embedding, technology,  card glyph icons isolated on white background. Black vector embedding sign,  symbol for web design and mobile apps Stock Vector | Adobe Stock">
                  <a:extLst>
                    <a:ext uri="{FF2B5EF4-FFF2-40B4-BE49-F238E27FC236}">
                      <a16:creationId xmlns:a16="http://schemas.microsoft.com/office/drawing/2014/main" id="{6D6CFA58-24F0-44FA-BF60-790D95EBAC60}"/>
                    </a:ext>
                  </a:extLst>
                </p:cNvPr>
                <p:cNvPicPr>
                  <a:picLocks noChangeArrowheads="1"/>
                </p:cNvPicPr>
                <p:nvPr/>
              </p:nvPicPr>
              <p:blipFill rotWithShape="1">
                <a:blip r:embed="rId1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0041" t="20317" r="20511" b="20000"/>
                <a:stretch/>
              </p:blipFill>
              <p:spPr bwMode="auto">
                <a:xfrm>
                  <a:off x="8361936" y="3175294"/>
                  <a:ext cx="205362" cy="15551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6645849C-559A-4246-B862-507705D94C2D}"/>
                  </a:ext>
                </a:extLst>
              </p:cNvPr>
              <p:cNvGrpSpPr/>
              <p:nvPr/>
            </p:nvGrpSpPr>
            <p:grpSpPr>
              <a:xfrm>
                <a:off x="7938353" y="3965193"/>
                <a:ext cx="515181" cy="388307"/>
                <a:chOff x="7183813" y="3990863"/>
                <a:chExt cx="857371" cy="832138"/>
              </a:xfrm>
            </p:grpSpPr>
            <p:sp>
              <p:nvSpPr>
                <p:cNvPr id="74" name="원통[C] 317">
                  <a:extLst>
                    <a:ext uri="{FF2B5EF4-FFF2-40B4-BE49-F238E27FC236}">
                      <a16:creationId xmlns:a16="http://schemas.microsoft.com/office/drawing/2014/main" id="{DD443151-11A5-48D1-A713-2ED00D2F154B}"/>
                    </a:ext>
                  </a:extLst>
                </p:cNvPr>
                <p:cNvSpPr/>
                <p:nvPr/>
              </p:nvSpPr>
              <p:spPr>
                <a:xfrm>
                  <a:off x="7183813" y="3990863"/>
                  <a:ext cx="857371" cy="832138"/>
                </a:xfrm>
                <a:prstGeom prst="can">
                  <a:avLst>
                    <a:gd name="adj" fmla="val 24501"/>
                  </a:avLst>
                </a:prstGeom>
                <a:noFill/>
                <a:ln w="127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609539">
                    <a:buClr>
                      <a:srgbClr val="000000"/>
                    </a:buClr>
                  </a:pPr>
                  <a:endParaRPr kumimoji="1" lang="ko-Kore-KR" altLang="en-US" sz="933" kern="0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  <a:sym typeface="Arial"/>
                  </a:endParaRPr>
                </a:p>
              </p:txBody>
            </p:sp>
            <p:sp>
              <p:nvSpPr>
                <p:cNvPr id="75" name="타원 74">
                  <a:extLst>
                    <a:ext uri="{FF2B5EF4-FFF2-40B4-BE49-F238E27FC236}">
                      <a16:creationId xmlns:a16="http://schemas.microsoft.com/office/drawing/2014/main" id="{15FC6D31-50C2-4B18-B97B-5DCC5318FD0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40453" y="4130146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76" name="타원 75">
                  <a:extLst>
                    <a:ext uri="{FF2B5EF4-FFF2-40B4-BE49-F238E27FC236}">
                      <a16:creationId xmlns:a16="http://schemas.microsoft.com/office/drawing/2014/main" id="{F60D3EDB-7BD2-4FC0-AA7C-9771A2B9CED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51739" y="4233522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209A9581-8E23-4C83-AA97-63CFEB9D063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72109" y="4240191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F0FEC672-05F3-45BB-8E52-2311A8F6950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84957" y="4240191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782C478F-8DF5-4B7F-B313-4992B0A8A94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72109" y="4233522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2EE1A59-428D-4760-9F63-F524BFACBA8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00931" y="4240191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3781985F-2979-4E37-A701-D3DD7AE6A9B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49540" y="4353570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622FA8B6-40A6-4668-8466-5C89F5E4608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88719" y="4370244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3" name="타원 82">
                  <a:extLst>
                    <a:ext uri="{FF2B5EF4-FFF2-40B4-BE49-F238E27FC236}">
                      <a16:creationId xmlns:a16="http://schemas.microsoft.com/office/drawing/2014/main" id="{7959F574-BE66-4B73-8847-73BD27062E5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59261" y="4453613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7CB6B20C-C12F-46D9-BB8A-C2569FEE2B4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83394" y="4456949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6A4CB3E7-0879-472B-9E0E-A0DEF4A75CE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96241" y="4550319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DDFAD5EB-F3DC-4042-8F18-D1AB549872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76164" y="4080125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3C229C44-E731-4B04-B474-634FDDB521E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40114" y="4183501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8" name="타원 87">
                  <a:extLst>
                    <a:ext uri="{FF2B5EF4-FFF2-40B4-BE49-F238E27FC236}">
                      <a16:creationId xmlns:a16="http://schemas.microsoft.com/office/drawing/2014/main" id="{4ACBB55D-8B02-401A-A3FB-96A92D36F1E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58923" y="4300216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34BCA887-5438-4A40-B512-BE4A12982DA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789654" y="4143487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90" name="타원 89">
                  <a:extLst>
                    <a:ext uri="{FF2B5EF4-FFF2-40B4-BE49-F238E27FC236}">
                      <a16:creationId xmlns:a16="http://schemas.microsoft.com/office/drawing/2014/main" id="{725760AD-4B82-4956-A5D5-DBCCFB5763F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98741" y="4393589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91" name="타원 90">
                  <a:extLst>
                    <a:ext uri="{FF2B5EF4-FFF2-40B4-BE49-F238E27FC236}">
                      <a16:creationId xmlns:a16="http://schemas.microsoft.com/office/drawing/2014/main" id="{FBCF0898-14B1-4C33-AD04-98ED951C14A9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744516" y="4503634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558A23EA-1D9E-4468-942D-07738BEE412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56367" y="4118713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93" name="타원 92">
                  <a:extLst>
                    <a:ext uri="{FF2B5EF4-FFF2-40B4-BE49-F238E27FC236}">
                      <a16:creationId xmlns:a16="http://schemas.microsoft.com/office/drawing/2014/main" id="{9019D07E-4FBC-4526-8DB9-DED80719848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91815" y="4298224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EAF99292-2E0D-4FD6-A647-89D88E39BD2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93772" y="4145554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95" name="타원 94">
                  <a:extLst>
                    <a:ext uri="{FF2B5EF4-FFF2-40B4-BE49-F238E27FC236}">
                      <a16:creationId xmlns:a16="http://schemas.microsoft.com/office/drawing/2014/main" id="{029D95EE-8696-4CE1-8051-F29F0380DDD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08667" y="4181473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96" name="타원 95">
                  <a:extLst>
                    <a:ext uri="{FF2B5EF4-FFF2-40B4-BE49-F238E27FC236}">
                      <a16:creationId xmlns:a16="http://schemas.microsoft.com/office/drawing/2014/main" id="{2BB8385E-D8A5-41C4-BB98-504B987182C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301077" y="4173085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  <p:sp>
              <p:nvSpPr>
                <p:cNvPr id="97" name="타원 96">
                  <a:extLst>
                    <a:ext uri="{FF2B5EF4-FFF2-40B4-BE49-F238E27FC236}">
                      <a16:creationId xmlns:a16="http://schemas.microsoft.com/office/drawing/2014/main" id="{0AF553E1-845A-493A-9546-53A84786CAAA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848193" y="4485180"/>
                  <a:ext cx="30498" cy="26156"/>
                </a:xfrm>
                <a:prstGeom prst="ellipse">
                  <a:avLst/>
                </a:prstGeom>
                <a:solidFill>
                  <a:srgbClr val="FFC3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함초롬바탕" panose="02030604000101010101" pitchFamily="18" charset="-127"/>
                  </a:endParaRPr>
                </a:p>
              </p:txBody>
            </p:sp>
          </p:grpSp>
          <p:grpSp>
            <p:nvGrpSpPr>
              <p:cNvPr id="53" name="그룹 52">
                <a:extLst>
                  <a:ext uri="{FF2B5EF4-FFF2-40B4-BE49-F238E27FC236}">
                    <a16:creationId xmlns:a16="http://schemas.microsoft.com/office/drawing/2014/main" id="{D71DFD35-7C69-426F-98C5-6E1599CE48B0}"/>
                  </a:ext>
                </a:extLst>
              </p:cNvPr>
              <p:cNvGrpSpPr/>
              <p:nvPr/>
            </p:nvGrpSpPr>
            <p:grpSpPr>
              <a:xfrm>
                <a:off x="7467336" y="2609638"/>
                <a:ext cx="1338755" cy="261296"/>
                <a:chOff x="7467336" y="2609638"/>
                <a:chExt cx="1338755" cy="261296"/>
              </a:xfrm>
            </p:grpSpPr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B464BA04-EA67-42AB-BA87-F960BB6BCC6A}"/>
                    </a:ext>
                  </a:extLst>
                </p:cNvPr>
                <p:cNvSpPr/>
                <p:nvPr/>
              </p:nvSpPr>
              <p:spPr>
                <a:xfrm>
                  <a:off x="7467336" y="2677882"/>
                  <a:ext cx="180663" cy="179247"/>
                </a:xfrm>
                <a:prstGeom prst="rect">
                  <a:avLst/>
                </a:prstGeom>
                <a:solidFill>
                  <a:srgbClr val="00537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ko-KR" sz="105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2</a:t>
                  </a:r>
                  <a:endParaRPr lang="ko-KR" altLang="en-US" sz="105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2B7034B4-9618-44D5-B96B-A662A2D01436}"/>
                    </a:ext>
                  </a:extLst>
                </p:cNvPr>
                <p:cNvSpPr txBox="1"/>
                <p:nvPr/>
              </p:nvSpPr>
              <p:spPr>
                <a:xfrm>
                  <a:off x="7623117" y="2609638"/>
                  <a:ext cx="1182974" cy="2612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토큰화 및 벡터화</a:t>
                  </a:r>
                </a:p>
              </p:txBody>
            </p:sp>
          </p:grp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6E97E963-2ECE-4CBC-A110-060D4FB431A1}"/>
                  </a:ext>
                </a:extLst>
              </p:cNvPr>
              <p:cNvGrpSpPr/>
              <p:nvPr/>
            </p:nvGrpSpPr>
            <p:grpSpPr>
              <a:xfrm>
                <a:off x="7464225" y="3620271"/>
                <a:ext cx="1133696" cy="261296"/>
                <a:chOff x="7464225" y="3620271"/>
                <a:chExt cx="1133696" cy="261296"/>
              </a:xfrm>
            </p:grpSpPr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CF774C2F-C4CC-429F-B535-16AD9343B74D}"/>
                    </a:ext>
                  </a:extLst>
                </p:cNvPr>
                <p:cNvSpPr/>
                <p:nvPr/>
              </p:nvSpPr>
              <p:spPr>
                <a:xfrm>
                  <a:off x="7464225" y="3679230"/>
                  <a:ext cx="180663" cy="179247"/>
                </a:xfrm>
                <a:prstGeom prst="rect">
                  <a:avLst/>
                </a:prstGeom>
                <a:solidFill>
                  <a:srgbClr val="00537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ko-KR" sz="105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3</a:t>
                  </a:r>
                  <a:endParaRPr lang="ko-KR" altLang="en-US" sz="105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335AFBE0-6FE0-42E8-BA69-F382AA07EF01}"/>
                    </a:ext>
                  </a:extLst>
                </p:cNvPr>
                <p:cNvSpPr txBox="1"/>
                <p:nvPr/>
              </p:nvSpPr>
              <p:spPr>
                <a:xfrm>
                  <a:off x="7620005" y="3620271"/>
                  <a:ext cx="977916" cy="2612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ko-KR" altLang="en-US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벡터 </a:t>
                  </a:r>
                  <a:r>
                    <a:rPr lang="en-US" altLang="ko-KR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DB </a:t>
                  </a:r>
                  <a:r>
                    <a:rPr lang="ko-KR" altLang="en-US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조회</a:t>
                  </a: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5BDBEF79-2F97-44F9-898D-15F7980185AE}"/>
                  </a:ext>
                </a:extLst>
              </p:cNvPr>
              <p:cNvGrpSpPr/>
              <p:nvPr/>
            </p:nvGrpSpPr>
            <p:grpSpPr>
              <a:xfrm>
                <a:off x="7479776" y="4376228"/>
                <a:ext cx="893284" cy="261296"/>
                <a:chOff x="7479776" y="4363788"/>
                <a:chExt cx="893284" cy="261296"/>
              </a:xfrm>
            </p:grpSpPr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59813008-C13C-4F16-86CE-BE1A35337031}"/>
                    </a:ext>
                  </a:extLst>
                </p:cNvPr>
                <p:cNvSpPr/>
                <p:nvPr/>
              </p:nvSpPr>
              <p:spPr>
                <a:xfrm>
                  <a:off x="7479776" y="4432032"/>
                  <a:ext cx="180663" cy="179247"/>
                </a:xfrm>
                <a:prstGeom prst="rect">
                  <a:avLst/>
                </a:prstGeom>
                <a:solidFill>
                  <a:srgbClr val="00537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ko-KR" sz="105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4</a:t>
                  </a:r>
                  <a:endParaRPr lang="ko-KR" altLang="en-US" sz="105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834EB8D6-B77B-4E63-A06F-1BE060782969}"/>
                    </a:ext>
                  </a:extLst>
                </p:cNvPr>
                <p:cNvSpPr txBox="1"/>
                <p:nvPr/>
              </p:nvSpPr>
              <p:spPr>
                <a:xfrm>
                  <a:off x="7635557" y="4363788"/>
                  <a:ext cx="737503" cy="2612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SQL</a:t>
                  </a:r>
                  <a:r>
                    <a:rPr lang="ko-KR" altLang="en-US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 </a:t>
                  </a:r>
                  <a:r>
                    <a:rPr lang="en-US" altLang="ko-KR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LLM</a:t>
                  </a:r>
                  <a:endParaRPr lang="ko-KR" altLang="en-US" sz="900" b="1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pic>
            <p:nvPicPr>
              <p:cNvPr id="56" name="그림 55">
                <a:extLst>
                  <a:ext uri="{FF2B5EF4-FFF2-40B4-BE49-F238E27FC236}">
                    <a16:creationId xmlns:a16="http://schemas.microsoft.com/office/drawing/2014/main" id="{EA15E9AE-53CD-4938-AEAE-CB40683EC51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86439" y="4793722"/>
                <a:ext cx="851815" cy="400679"/>
              </a:xfrm>
              <a:prstGeom prst="rect">
                <a:avLst/>
              </a:prstGeom>
            </p:spPr>
          </p:pic>
          <p:pic>
            <p:nvPicPr>
              <p:cNvPr id="57" name="그림 56">
                <a:extLst>
                  <a:ext uri="{FF2B5EF4-FFF2-40B4-BE49-F238E27FC236}">
                    <a16:creationId xmlns:a16="http://schemas.microsoft.com/office/drawing/2014/main" id="{51E16651-3C4B-4892-BE9C-3C4C0190E7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35054" y="5728556"/>
                <a:ext cx="694544" cy="604662"/>
              </a:xfrm>
              <a:prstGeom prst="rect">
                <a:avLst/>
              </a:prstGeom>
            </p:spPr>
          </p:pic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C4B3AB99-596A-49F3-8E37-9917EE3A4A5C}"/>
                  </a:ext>
                </a:extLst>
              </p:cNvPr>
              <p:cNvGrpSpPr/>
              <p:nvPr/>
            </p:nvGrpSpPr>
            <p:grpSpPr>
              <a:xfrm>
                <a:off x="7636257" y="4795930"/>
                <a:ext cx="481373" cy="465201"/>
                <a:chOff x="6927133" y="4801886"/>
                <a:chExt cx="605780" cy="583658"/>
              </a:xfrm>
            </p:grpSpPr>
            <p:pic>
              <p:nvPicPr>
                <p:cNvPr id="66" name="그림 65">
                  <a:extLst>
                    <a:ext uri="{FF2B5EF4-FFF2-40B4-BE49-F238E27FC236}">
                      <a16:creationId xmlns:a16="http://schemas.microsoft.com/office/drawing/2014/main" id="{15292F1A-2B16-4CD8-8489-4010605D70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927133" y="4801886"/>
                  <a:ext cx="562240" cy="583658"/>
                </a:xfrm>
                <a:prstGeom prst="rect">
                  <a:avLst/>
                </a:prstGeom>
              </p:spPr>
            </p:pic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9D272864-2135-4E3F-B2C1-945A927E1A91}"/>
                    </a:ext>
                  </a:extLst>
                </p:cNvPr>
                <p:cNvSpPr/>
                <p:nvPr/>
              </p:nvSpPr>
              <p:spPr>
                <a:xfrm>
                  <a:off x="7321420" y="5026090"/>
                  <a:ext cx="211493" cy="1306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59" name="사각형: 둥근 모서리 58">
                <a:extLst>
                  <a:ext uri="{FF2B5EF4-FFF2-40B4-BE49-F238E27FC236}">
                    <a16:creationId xmlns:a16="http://schemas.microsoft.com/office/drawing/2014/main" id="{EE85CA14-D4F6-4BA0-8517-86C625D9E6DA}"/>
                  </a:ext>
                </a:extLst>
              </p:cNvPr>
              <p:cNvSpPr/>
              <p:nvPr/>
            </p:nvSpPr>
            <p:spPr>
              <a:xfrm>
                <a:off x="7545353" y="4696404"/>
                <a:ext cx="1654631" cy="70290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60" name="사각형: 둥근 모서리 59">
                <a:extLst>
                  <a:ext uri="{FF2B5EF4-FFF2-40B4-BE49-F238E27FC236}">
                    <a16:creationId xmlns:a16="http://schemas.microsoft.com/office/drawing/2014/main" id="{8790BAE9-D6C3-4AA5-8754-84EAED7ECFBB}"/>
                  </a:ext>
                </a:extLst>
              </p:cNvPr>
              <p:cNvSpPr/>
              <p:nvPr/>
            </p:nvSpPr>
            <p:spPr>
              <a:xfrm>
                <a:off x="7545288" y="2903645"/>
                <a:ext cx="1598712" cy="681497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61" name="그룹 60">
                <a:extLst>
                  <a:ext uri="{FF2B5EF4-FFF2-40B4-BE49-F238E27FC236}">
                    <a16:creationId xmlns:a16="http://schemas.microsoft.com/office/drawing/2014/main" id="{61FE96F3-2C14-459D-AA1A-2F8B58DC8B32}"/>
                  </a:ext>
                </a:extLst>
              </p:cNvPr>
              <p:cNvGrpSpPr/>
              <p:nvPr/>
            </p:nvGrpSpPr>
            <p:grpSpPr>
              <a:xfrm>
                <a:off x="7507768" y="5461512"/>
                <a:ext cx="1336987" cy="261296"/>
                <a:chOff x="7507768" y="5461512"/>
                <a:chExt cx="1336987" cy="261296"/>
              </a:xfrm>
            </p:grpSpPr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E2B132D2-1FF4-4F5F-8CD0-7CF2CBED17B1}"/>
                    </a:ext>
                  </a:extLst>
                </p:cNvPr>
                <p:cNvSpPr/>
                <p:nvPr/>
              </p:nvSpPr>
              <p:spPr>
                <a:xfrm>
                  <a:off x="7507768" y="5492612"/>
                  <a:ext cx="180663" cy="179247"/>
                </a:xfrm>
                <a:prstGeom prst="rect">
                  <a:avLst/>
                </a:prstGeom>
                <a:solidFill>
                  <a:srgbClr val="00537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/>
                  <a:r>
                    <a:rPr lang="en-US" altLang="ko-KR" sz="105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5</a:t>
                  </a:r>
                  <a:endParaRPr lang="ko-KR" altLang="en-US" sz="105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75E731F0-E0F9-41BF-8646-8060BAB54159}"/>
                    </a:ext>
                  </a:extLst>
                </p:cNvPr>
                <p:cNvSpPr txBox="1"/>
                <p:nvPr/>
              </p:nvSpPr>
              <p:spPr>
                <a:xfrm>
                  <a:off x="7663549" y="5461512"/>
                  <a:ext cx="1181206" cy="26129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ko-KR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LLM </a:t>
                  </a:r>
                  <a:r>
                    <a:rPr lang="ko-KR" altLang="en-US" sz="900" b="1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및 그래프화</a:t>
                  </a:r>
                </a:p>
              </p:txBody>
            </p:sp>
          </p:grpSp>
          <p:pic>
            <p:nvPicPr>
              <p:cNvPr id="62" name="그림 61">
                <a:extLst>
                  <a:ext uri="{FF2B5EF4-FFF2-40B4-BE49-F238E27FC236}">
                    <a16:creationId xmlns:a16="http://schemas.microsoft.com/office/drawing/2014/main" id="{2414C14F-71B6-4B90-BE8A-A708E68D28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46200" y="5845108"/>
                <a:ext cx="2687229" cy="1844830"/>
              </a:xfrm>
              <a:prstGeom prst="rect">
                <a:avLst/>
              </a:prstGeom>
            </p:spPr>
          </p:pic>
          <p:sp>
            <p:nvSpPr>
              <p:cNvPr id="63" name="사각형: 둥근 모서리 62">
                <a:extLst>
                  <a:ext uri="{FF2B5EF4-FFF2-40B4-BE49-F238E27FC236}">
                    <a16:creationId xmlns:a16="http://schemas.microsoft.com/office/drawing/2014/main" id="{9AD754D9-116F-4ED2-9EEE-44AA51B88123}"/>
                  </a:ext>
                </a:extLst>
              </p:cNvPr>
              <p:cNvSpPr/>
              <p:nvPr/>
            </p:nvSpPr>
            <p:spPr>
              <a:xfrm>
                <a:off x="7529802" y="5744543"/>
                <a:ext cx="852893" cy="702906"/>
              </a:xfrm>
              <a:prstGeom prst="roundRect">
                <a:avLst/>
              </a:prstGeom>
              <a:noFill/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4A93233-C779-4833-BDAB-CA43B5CFB657}"/>
                </a:ext>
              </a:extLst>
            </p:cNvPr>
            <p:cNvGrpSpPr/>
            <p:nvPr/>
          </p:nvGrpSpPr>
          <p:grpSpPr>
            <a:xfrm>
              <a:off x="2039261" y="2650559"/>
              <a:ext cx="1170468" cy="1535771"/>
              <a:chOff x="1779038" y="2102498"/>
              <a:chExt cx="1290755" cy="1816359"/>
            </a:xfrm>
          </p:grpSpPr>
          <p:pic>
            <p:nvPicPr>
              <p:cNvPr id="42" name="그림 41">
                <a:extLst>
                  <a:ext uri="{FF2B5EF4-FFF2-40B4-BE49-F238E27FC236}">
                    <a16:creationId xmlns:a16="http://schemas.microsoft.com/office/drawing/2014/main" id="{10EBE3E3-EDE9-4270-97BF-C53A5873E4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1922108" y="2518653"/>
                <a:ext cx="789992" cy="747062"/>
              </a:xfrm>
              <a:prstGeom prst="rect">
                <a:avLst/>
              </a:prstGeom>
            </p:spPr>
          </p:pic>
          <p:sp>
            <p:nvSpPr>
              <p:cNvPr id="43" name="사각형: 둥근 모서리 42">
                <a:extLst>
                  <a:ext uri="{FF2B5EF4-FFF2-40B4-BE49-F238E27FC236}">
                    <a16:creationId xmlns:a16="http://schemas.microsoft.com/office/drawing/2014/main" id="{3154A46C-CDB8-482A-AC98-7509947364EC}"/>
                  </a:ext>
                </a:extLst>
              </p:cNvPr>
              <p:cNvSpPr/>
              <p:nvPr/>
            </p:nvSpPr>
            <p:spPr>
              <a:xfrm>
                <a:off x="1971871" y="3327921"/>
                <a:ext cx="702906" cy="435428"/>
              </a:xfrm>
              <a:prstGeom prst="roundRect">
                <a:avLst/>
              </a:prstGeom>
              <a:solidFill>
                <a:srgbClr val="3EB1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Ncross Adapter</a:t>
                </a:r>
                <a:endPara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3F6EFD64-4381-455D-A5AF-C00952324B6D}"/>
                  </a:ext>
                </a:extLst>
              </p:cNvPr>
              <p:cNvSpPr txBox="1"/>
              <p:nvPr/>
            </p:nvSpPr>
            <p:spPr>
              <a:xfrm>
                <a:off x="1838475" y="2137449"/>
                <a:ext cx="1231318" cy="300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IoT</a:t>
                </a:r>
                <a:r>
                  <a:rPr lang="ko-KR" altLang="en-US" sz="10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수집 서버</a:t>
                </a:r>
              </a:p>
            </p:txBody>
          </p:sp>
          <p:sp>
            <p:nvSpPr>
              <p:cNvPr id="45" name="사각형: 둥근 모서리 44">
                <a:extLst>
                  <a:ext uri="{FF2B5EF4-FFF2-40B4-BE49-F238E27FC236}">
                    <a16:creationId xmlns:a16="http://schemas.microsoft.com/office/drawing/2014/main" id="{F5EEB9AD-11E1-471C-A1CD-0B553B68C820}"/>
                  </a:ext>
                </a:extLst>
              </p:cNvPr>
              <p:cNvSpPr/>
              <p:nvPr/>
            </p:nvSpPr>
            <p:spPr>
              <a:xfrm>
                <a:off x="1779038" y="2102498"/>
                <a:ext cx="1132114" cy="1816359"/>
              </a:xfrm>
              <a:prstGeom prst="roundRect">
                <a:avLst>
                  <a:gd name="adj" fmla="val 7888"/>
                </a:avLst>
              </a:prstGeom>
              <a:noFill/>
              <a:ln>
                <a:solidFill>
                  <a:srgbClr val="B0C7D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75A1809B-0BE0-40CC-A0FB-2C3EA4254069}"/>
                </a:ext>
              </a:extLst>
            </p:cNvPr>
            <p:cNvGrpSpPr/>
            <p:nvPr/>
          </p:nvGrpSpPr>
          <p:grpSpPr>
            <a:xfrm>
              <a:off x="388612" y="2494484"/>
              <a:ext cx="992903" cy="1637569"/>
              <a:chOff x="488504" y="1150773"/>
              <a:chExt cx="1094943" cy="1853684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9B5E3CF2-765E-4130-930E-C29D4D5FFCB6}"/>
                  </a:ext>
                </a:extLst>
              </p:cNvPr>
              <p:cNvSpPr/>
              <p:nvPr/>
            </p:nvSpPr>
            <p:spPr>
              <a:xfrm>
                <a:off x="488504" y="1394114"/>
                <a:ext cx="1094943" cy="1610343"/>
              </a:xfrm>
              <a:prstGeom prst="roundRect">
                <a:avLst>
                  <a:gd name="adj" fmla="val 5791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B3D2EF8-04CA-4D6F-9BBE-36FFA22BAD4D}"/>
                  </a:ext>
                </a:extLst>
              </p:cNvPr>
              <p:cNvSpPr txBox="1"/>
              <p:nvPr/>
            </p:nvSpPr>
            <p:spPr>
              <a:xfrm>
                <a:off x="575943" y="1150773"/>
                <a:ext cx="908974" cy="2961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사이트 </a:t>
                </a:r>
                <a:r>
                  <a:rPr lang="en-US" altLang="ko-KR" sz="11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#2</a:t>
                </a:r>
                <a:endPara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7" name="그림 36">
                <a:extLst>
                  <a:ext uri="{FF2B5EF4-FFF2-40B4-BE49-F238E27FC236}">
                    <a16:creationId xmlns:a16="http://schemas.microsoft.com/office/drawing/2014/main" id="{7D54D149-2CE9-4C40-961B-A789D10AB7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0842" y="2308350"/>
                <a:ext cx="334042" cy="334042"/>
              </a:xfrm>
              <a:prstGeom prst="rect">
                <a:avLst/>
              </a:prstGeom>
            </p:spPr>
          </p:pic>
          <p:pic>
            <p:nvPicPr>
              <p:cNvPr id="39" name="그림 38">
                <a:extLst>
                  <a:ext uri="{FF2B5EF4-FFF2-40B4-BE49-F238E27FC236}">
                    <a16:creationId xmlns:a16="http://schemas.microsoft.com/office/drawing/2014/main" id="{AF3CFFE0-B0CD-4CB8-9F87-D1FAAD4FAA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3533" y="2321962"/>
                <a:ext cx="394423" cy="394424"/>
              </a:xfrm>
              <a:prstGeom prst="rect">
                <a:avLst/>
              </a:prstGeom>
            </p:spPr>
          </p:pic>
          <p:pic>
            <p:nvPicPr>
              <p:cNvPr id="40" name="그림 39">
                <a:extLst>
                  <a:ext uri="{FF2B5EF4-FFF2-40B4-BE49-F238E27FC236}">
                    <a16:creationId xmlns:a16="http://schemas.microsoft.com/office/drawing/2014/main" id="{37A8C279-B485-4A4F-8932-46F1285735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51174" y="1689631"/>
                <a:ext cx="293879" cy="293879"/>
              </a:xfrm>
              <a:prstGeom prst="rect">
                <a:avLst/>
              </a:prstGeom>
            </p:spPr>
          </p:pic>
          <p:pic>
            <p:nvPicPr>
              <p:cNvPr id="41" name="그림 40">
                <a:extLst>
                  <a:ext uri="{FF2B5EF4-FFF2-40B4-BE49-F238E27FC236}">
                    <a16:creationId xmlns:a16="http://schemas.microsoft.com/office/drawing/2014/main" id="{AB117B9D-1FD8-4AA1-9E23-C5A64C15E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8322" y="1620289"/>
                <a:ext cx="362237" cy="362237"/>
              </a:xfrm>
              <a:prstGeom prst="rect">
                <a:avLst/>
              </a:prstGeom>
            </p:spPr>
          </p:pic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9C3FF46-EC32-43C9-9D7D-965E4A81DA8C}"/>
                </a:ext>
              </a:extLst>
            </p:cNvPr>
            <p:cNvGrpSpPr/>
            <p:nvPr/>
          </p:nvGrpSpPr>
          <p:grpSpPr>
            <a:xfrm>
              <a:off x="317444" y="4201730"/>
              <a:ext cx="992903" cy="1648558"/>
              <a:chOff x="488504" y="1138333"/>
              <a:chExt cx="1094943" cy="1866124"/>
            </a:xfrm>
          </p:grpSpPr>
          <p:sp>
            <p:nvSpPr>
              <p:cNvPr id="28" name="사각형: 둥근 모서리 27">
                <a:extLst>
                  <a:ext uri="{FF2B5EF4-FFF2-40B4-BE49-F238E27FC236}">
                    <a16:creationId xmlns:a16="http://schemas.microsoft.com/office/drawing/2014/main" id="{2D61171E-61AF-4BDD-9B4A-D4A3417F5EA3}"/>
                  </a:ext>
                </a:extLst>
              </p:cNvPr>
              <p:cNvSpPr/>
              <p:nvPr/>
            </p:nvSpPr>
            <p:spPr>
              <a:xfrm>
                <a:off x="488504" y="1394114"/>
                <a:ext cx="1094943" cy="1610343"/>
              </a:xfrm>
              <a:prstGeom prst="roundRect">
                <a:avLst>
                  <a:gd name="adj" fmla="val 5791"/>
                </a:avLst>
              </a:prstGeom>
              <a:solidFill>
                <a:schemeClr val="bg1">
                  <a:lumMod val="9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B1AB225-E8C1-4CD1-8A01-9E7353CC5182}"/>
                  </a:ext>
                </a:extLst>
              </p:cNvPr>
              <p:cNvSpPr txBox="1"/>
              <p:nvPr/>
            </p:nvSpPr>
            <p:spPr>
              <a:xfrm>
                <a:off x="577221" y="1138333"/>
                <a:ext cx="908974" cy="29613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1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사이트 </a:t>
                </a:r>
                <a:r>
                  <a:rPr lang="en-US" altLang="ko-KR" sz="11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#3</a:t>
                </a:r>
                <a:endPara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78BE225F-3D23-42E8-8684-C56C04443C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40196" y="1583093"/>
                <a:ext cx="334042" cy="334042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37810AB2-35C3-43B2-9E9F-17072FC9A6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3356" y="1561498"/>
                <a:ext cx="394423" cy="394423"/>
              </a:xfrm>
              <a:prstGeom prst="rect">
                <a:avLst/>
              </a:prstGeom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4D2E9A7B-42C9-4C4E-A1B6-9997B40CE9B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137454" y="2386722"/>
                <a:ext cx="293879" cy="293878"/>
              </a:xfrm>
              <a:prstGeom prst="rect">
                <a:avLst/>
              </a:pr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4F0C33A4-A732-4072-910F-A6D445D82A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78322" y="2331465"/>
                <a:ext cx="362237" cy="362237"/>
              </a:xfrm>
              <a:prstGeom prst="rect">
                <a:avLst/>
              </a:prstGeom>
            </p:spPr>
          </p:pic>
        </p:grpSp>
        <p:cxnSp>
          <p:nvCxnSpPr>
            <p:cNvPr id="25" name="연결선: 꺾임 24">
              <a:extLst>
                <a:ext uri="{FF2B5EF4-FFF2-40B4-BE49-F238E27FC236}">
                  <a16:creationId xmlns:a16="http://schemas.microsoft.com/office/drawing/2014/main" id="{A4680365-9CD9-4E9A-820F-98BFB0A97A19}"/>
                </a:ext>
              </a:extLst>
            </p:cNvPr>
            <p:cNvCxnSpPr>
              <a:cxnSpLocks/>
              <a:stCxn id="110" idx="3"/>
            </p:cNvCxnSpPr>
            <p:nvPr/>
          </p:nvCxnSpPr>
          <p:spPr>
            <a:xfrm flipV="1">
              <a:off x="4590802" y="1881769"/>
              <a:ext cx="1404497" cy="379164"/>
            </a:xfrm>
            <a:prstGeom prst="bentConnector3">
              <a:avLst>
                <a:gd name="adj1" fmla="val 19879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DE79A7FF-D4F8-487B-8BDF-6438060EDAF8}"/>
                </a:ext>
              </a:extLst>
            </p:cNvPr>
            <p:cNvCxnSpPr>
              <a:cxnSpLocks/>
            </p:cNvCxnSpPr>
            <p:nvPr/>
          </p:nvCxnSpPr>
          <p:spPr>
            <a:xfrm>
              <a:off x="5989657" y="1876274"/>
              <a:ext cx="0" cy="24123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A6EF869-BA77-49AC-A98D-04E226835AAF}"/>
                </a:ext>
              </a:extLst>
            </p:cNvPr>
            <p:cNvCxnSpPr/>
            <p:nvPr/>
          </p:nvCxnSpPr>
          <p:spPr>
            <a:xfrm>
              <a:off x="5995299" y="4288661"/>
              <a:ext cx="58663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76F20306-A22D-4DA7-9B14-ABD275FE8D5C}"/>
                </a:ext>
              </a:extLst>
            </p:cNvPr>
            <p:cNvGrpSpPr/>
            <p:nvPr/>
          </p:nvGrpSpPr>
          <p:grpSpPr>
            <a:xfrm>
              <a:off x="2048593" y="930617"/>
              <a:ext cx="1126926" cy="1520220"/>
              <a:chOff x="1779038" y="2102498"/>
              <a:chExt cx="1242740" cy="1816359"/>
            </a:xfrm>
          </p:grpSpPr>
          <p:pic>
            <p:nvPicPr>
              <p:cNvPr id="119" name="그림 118">
                <a:extLst>
                  <a:ext uri="{FF2B5EF4-FFF2-40B4-BE49-F238E27FC236}">
                    <a16:creationId xmlns:a16="http://schemas.microsoft.com/office/drawing/2014/main" id="{4CFC951F-C1B3-4B44-AB02-C6D58CF960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1922108" y="2518653"/>
                <a:ext cx="789992" cy="747062"/>
              </a:xfrm>
              <a:prstGeom prst="rect">
                <a:avLst/>
              </a:prstGeom>
            </p:spPr>
          </p:pic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0159999E-D4C8-4A33-A711-0DB5EA0DD358}"/>
                  </a:ext>
                </a:extLst>
              </p:cNvPr>
              <p:cNvSpPr/>
              <p:nvPr/>
            </p:nvSpPr>
            <p:spPr>
              <a:xfrm>
                <a:off x="1971871" y="3327921"/>
                <a:ext cx="702906" cy="435428"/>
              </a:xfrm>
              <a:prstGeom prst="roundRect">
                <a:avLst/>
              </a:prstGeom>
              <a:solidFill>
                <a:srgbClr val="3EB1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Ncross Adapter</a:t>
                </a:r>
                <a:endPara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630B062C-3B55-4761-AA3E-71D224F9EE9E}"/>
                  </a:ext>
                </a:extLst>
              </p:cNvPr>
              <p:cNvSpPr txBox="1"/>
              <p:nvPr/>
            </p:nvSpPr>
            <p:spPr>
              <a:xfrm>
                <a:off x="1790460" y="2137449"/>
                <a:ext cx="1231318" cy="303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IoT</a:t>
                </a:r>
                <a:r>
                  <a:rPr lang="ko-KR" altLang="en-US" sz="10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수집 서버</a:t>
                </a:r>
              </a:p>
            </p:txBody>
          </p:sp>
          <p:sp>
            <p:nvSpPr>
              <p:cNvPr id="122" name="사각형: 둥근 모서리 121">
                <a:extLst>
                  <a:ext uri="{FF2B5EF4-FFF2-40B4-BE49-F238E27FC236}">
                    <a16:creationId xmlns:a16="http://schemas.microsoft.com/office/drawing/2014/main" id="{4FC43BA2-F699-4835-B35E-B6465B7FEA03}"/>
                  </a:ext>
                </a:extLst>
              </p:cNvPr>
              <p:cNvSpPr/>
              <p:nvPr/>
            </p:nvSpPr>
            <p:spPr>
              <a:xfrm>
                <a:off x="1779038" y="2102498"/>
                <a:ext cx="1132114" cy="1816359"/>
              </a:xfrm>
              <a:prstGeom prst="roundRect">
                <a:avLst>
                  <a:gd name="adj" fmla="val 7888"/>
                </a:avLst>
              </a:prstGeom>
              <a:noFill/>
              <a:ln>
                <a:solidFill>
                  <a:srgbClr val="B0C7D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5D1A58D4-44AE-4D9D-8592-3137C65075FD}"/>
                </a:ext>
              </a:extLst>
            </p:cNvPr>
            <p:cNvGrpSpPr/>
            <p:nvPr/>
          </p:nvGrpSpPr>
          <p:grpSpPr>
            <a:xfrm>
              <a:off x="2005049" y="4358062"/>
              <a:ext cx="1151807" cy="1514000"/>
              <a:chOff x="1779038" y="2102498"/>
              <a:chExt cx="1270177" cy="1816359"/>
            </a:xfrm>
          </p:grpSpPr>
          <p:pic>
            <p:nvPicPr>
              <p:cNvPr id="124" name="그림 123">
                <a:extLst>
                  <a:ext uri="{FF2B5EF4-FFF2-40B4-BE49-F238E27FC236}">
                    <a16:creationId xmlns:a16="http://schemas.microsoft.com/office/drawing/2014/main" id="{DC9F21B2-1F60-47F7-B849-E3FBA98DCB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V="1">
                <a:off x="1922108" y="2518653"/>
                <a:ext cx="789992" cy="747062"/>
              </a:xfrm>
              <a:prstGeom prst="rect">
                <a:avLst/>
              </a:prstGeom>
            </p:spPr>
          </p:pic>
          <p:sp>
            <p:nvSpPr>
              <p:cNvPr id="125" name="사각형: 둥근 모서리 124">
                <a:extLst>
                  <a:ext uri="{FF2B5EF4-FFF2-40B4-BE49-F238E27FC236}">
                    <a16:creationId xmlns:a16="http://schemas.microsoft.com/office/drawing/2014/main" id="{BD40CFBA-C844-4F88-AAF2-10CDBEF8BEF0}"/>
                  </a:ext>
                </a:extLst>
              </p:cNvPr>
              <p:cNvSpPr/>
              <p:nvPr/>
            </p:nvSpPr>
            <p:spPr>
              <a:xfrm>
                <a:off x="1971871" y="3327921"/>
                <a:ext cx="702906" cy="435428"/>
              </a:xfrm>
              <a:prstGeom prst="roundRect">
                <a:avLst/>
              </a:prstGeom>
              <a:solidFill>
                <a:srgbClr val="3EB1A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en-US" altLang="ko-KR" sz="90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Ncross Adapter</a:t>
                </a:r>
                <a:endParaRPr lang="ko-KR" altLang="en-US" sz="90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58D48F4D-FD8E-47C0-8162-F74BDB9E928F}"/>
                  </a:ext>
                </a:extLst>
              </p:cNvPr>
              <p:cNvSpPr txBox="1"/>
              <p:nvPr/>
            </p:nvSpPr>
            <p:spPr>
              <a:xfrm>
                <a:off x="1817897" y="2137449"/>
                <a:ext cx="1231318" cy="3046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IoT</a:t>
                </a:r>
                <a:r>
                  <a:rPr lang="ko-KR" altLang="en-US" sz="1000" b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수집 서버</a:t>
                </a:r>
              </a:p>
            </p:txBody>
          </p:sp>
          <p:sp>
            <p:nvSpPr>
              <p:cNvPr id="127" name="사각형: 둥근 모서리 126">
                <a:extLst>
                  <a:ext uri="{FF2B5EF4-FFF2-40B4-BE49-F238E27FC236}">
                    <a16:creationId xmlns:a16="http://schemas.microsoft.com/office/drawing/2014/main" id="{8612E3F5-61DF-4A83-A03C-0978944207AA}"/>
                  </a:ext>
                </a:extLst>
              </p:cNvPr>
              <p:cNvSpPr/>
              <p:nvPr/>
            </p:nvSpPr>
            <p:spPr>
              <a:xfrm>
                <a:off x="1779038" y="2102498"/>
                <a:ext cx="1132114" cy="1816359"/>
              </a:xfrm>
              <a:prstGeom prst="roundRect">
                <a:avLst>
                  <a:gd name="adj" fmla="val 7888"/>
                </a:avLst>
              </a:prstGeom>
              <a:noFill/>
              <a:ln>
                <a:solidFill>
                  <a:srgbClr val="B0C7D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cxnSp>
          <p:nvCxnSpPr>
            <p:cNvPr id="138" name="직선 화살표 연결선 137">
              <a:extLst>
                <a:ext uri="{FF2B5EF4-FFF2-40B4-BE49-F238E27FC236}">
                  <a16:creationId xmlns:a16="http://schemas.microsoft.com/office/drawing/2014/main" id="{045582C2-9E01-45A6-BFC7-7EBF10FCE8F0}"/>
                </a:ext>
              </a:extLst>
            </p:cNvPr>
            <p:cNvCxnSpPr/>
            <p:nvPr/>
          </p:nvCxnSpPr>
          <p:spPr bwMode="auto">
            <a:xfrm>
              <a:off x="1436917" y="1747930"/>
              <a:ext cx="504000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직선 화살표 연결선 138">
              <a:extLst>
                <a:ext uri="{FF2B5EF4-FFF2-40B4-BE49-F238E27FC236}">
                  <a16:creationId xmlns:a16="http://schemas.microsoft.com/office/drawing/2014/main" id="{423B78D1-C071-49D2-A6F9-6C7F70794240}"/>
                </a:ext>
              </a:extLst>
            </p:cNvPr>
            <p:cNvCxnSpPr/>
            <p:nvPr/>
          </p:nvCxnSpPr>
          <p:spPr bwMode="auto">
            <a:xfrm>
              <a:off x="1464908" y="3418109"/>
              <a:ext cx="504000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직선 화살표 연결선 139">
              <a:extLst>
                <a:ext uri="{FF2B5EF4-FFF2-40B4-BE49-F238E27FC236}">
                  <a16:creationId xmlns:a16="http://schemas.microsoft.com/office/drawing/2014/main" id="{DA1D9D0E-A431-402B-91E3-367BC9F634C4}"/>
                </a:ext>
              </a:extLst>
            </p:cNvPr>
            <p:cNvCxnSpPr/>
            <p:nvPr/>
          </p:nvCxnSpPr>
          <p:spPr bwMode="auto">
            <a:xfrm>
              <a:off x="1443135" y="5218917"/>
              <a:ext cx="504000" cy="0"/>
            </a:xfrm>
            <a:prstGeom prst="straightConnector1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74424E5C-2AC5-4D43-91FB-025DC5D8F3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396343" y="2139816"/>
              <a:ext cx="0" cy="3415004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7884E3A4-A6E0-4E26-934E-C1AC7B3D5735}"/>
                </a:ext>
              </a:extLst>
            </p:cNvPr>
            <p:cNvCxnSpPr/>
            <p:nvPr/>
          </p:nvCxnSpPr>
          <p:spPr bwMode="auto">
            <a:xfrm>
              <a:off x="2917371" y="2146036"/>
              <a:ext cx="485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>
              <a:extLst>
                <a:ext uri="{FF2B5EF4-FFF2-40B4-BE49-F238E27FC236}">
                  <a16:creationId xmlns:a16="http://schemas.microsoft.com/office/drawing/2014/main" id="{EAD6A2A6-9DE8-46C1-96EF-F5A88ED3515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08040" y="3884640"/>
              <a:ext cx="62515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C328FDF7-61C7-45C2-A4DC-9C0DE279FBC5}"/>
                </a:ext>
              </a:extLst>
            </p:cNvPr>
            <p:cNvCxnSpPr/>
            <p:nvPr/>
          </p:nvCxnSpPr>
          <p:spPr bwMode="auto">
            <a:xfrm>
              <a:off x="2898707" y="5548599"/>
              <a:ext cx="48519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연결선: 꺾임 150">
              <a:extLst>
                <a:ext uri="{FF2B5EF4-FFF2-40B4-BE49-F238E27FC236}">
                  <a16:creationId xmlns:a16="http://schemas.microsoft.com/office/drawing/2014/main" id="{34F84A8C-B9E2-4033-9B1A-84EC4F17FFC4}"/>
                </a:ext>
              </a:extLst>
            </p:cNvPr>
            <p:cNvCxnSpPr>
              <a:cxnSpLocks/>
            </p:cNvCxnSpPr>
            <p:nvPr/>
          </p:nvCxnSpPr>
          <p:spPr bwMode="auto">
            <a:xfrm rot="5400000" flipH="1" flipV="1">
              <a:off x="3300406" y="3339980"/>
              <a:ext cx="756000" cy="290428"/>
            </a:xfrm>
            <a:prstGeom prst="bentConnector3">
              <a:avLst>
                <a:gd name="adj1" fmla="val 99358"/>
              </a:avLst>
            </a:prstGeom>
            <a:ln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C367B6EA-B43B-47CC-8F49-CC5B4F2CF58E}"/>
                </a:ext>
              </a:extLst>
            </p:cNvPr>
            <p:cNvSpPr txBox="1"/>
            <p:nvPr/>
          </p:nvSpPr>
          <p:spPr>
            <a:xfrm>
              <a:off x="508334" y="699896"/>
              <a:ext cx="8242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사이트 </a:t>
              </a:r>
              <a:r>
                <a:rPr lang="en-US" altLang="ko-KR" sz="1100" b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#1</a:t>
              </a:r>
              <a:endParaRPr lang="ko-KR" altLang="en-US" sz="1100" b="1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1A0941-5127-4768-B570-696DA2793489}"/>
              </a:ext>
            </a:extLst>
          </p:cNvPr>
          <p:cNvSpPr txBox="1"/>
          <p:nvPr/>
        </p:nvSpPr>
        <p:spPr>
          <a:xfrm>
            <a:off x="304800" y="335897"/>
            <a:ext cx="81808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■ </a:t>
            </a:r>
            <a:r>
              <a:rPr lang="en-US" altLang="ko-KR" b="1" dirty="0" err="1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CoreIQ</a:t>
            </a:r>
            <a:r>
              <a:rPr lang="en-US" altLang="ko-KR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솔루션 </a:t>
            </a:r>
            <a:r>
              <a:rPr lang="en-US" altLang="ko-KR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[</a:t>
            </a:r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일반 </a:t>
            </a:r>
            <a:r>
              <a:rPr lang="en-US" altLang="ko-KR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DB </a:t>
            </a:r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수집 후 그래프 표기</a:t>
            </a:r>
            <a:r>
              <a:rPr lang="en-US" altLang="ko-KR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] </a:t>
            </a:r>
            <a:r>
              <a:rPr lang="ko-KR" altLang="en-US" b="1" dirty="0">
                <a:solidFill>
                  <a:srgbClr val="0053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활용 예시</a:t>
            </a:r>
          </a:p>
        </p:txBody>
      </p:sp>
    </p:spTree>
    <p:extLst>
      <p:ext uri="{BB962C8B-B14F-4D97-AF65-F5344CB8AC3E}">
        <p14:creationId xmlns:p14="http://schemas.microsoft.com/office/powerpoint/2010/main" val="689174656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-키포인트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2_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>
          <a:prstShdw prst="shdw17" dist="17961" dir="2700000">
            <a:schemeClr val="accent1">
              <a:gamma/>
              <a:shade val="60000"/>
              <a:invGamma/>
            </a:schemeClr>
          </a:prstShdw>
        </a:effectLst>
      </a:spPr>
      <a:bodyPr vert="horz" wrap="square" lIns="0" tIns="0" rIns="0" bIns="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1" lang="ko-KR" sz="9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맑은 고딕" pitchFamily="50" charset="-127"/>
            <a:ea typeface="맑은 고딕" pitchFamily="50" charset="-127"/>
          </a:defRPr>
        </a:defPPr>
      </a:lstStyle>
    </a:lnDef>
  </a:objectDefaults>
  <a:extraClrSchemeLst>
    <a:extraClrScheme>
      <a:clrScheme name="2_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8214</TotalTime>
  <Words>468</Words>
  <Application>Microsoft Office PowerPoint</Application>
  <PresentationFormat>A4 용지(210x297mm)</PresentationFormat>
  <Paragraphs>139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굴림</vt:lpstr>
      <vt:lpstr>돋움</vt:lpstr>
      <vt:lpstr>맑은 고딕</vt:lpstr>
      <vt:lpstr>기본-키포인트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김은미(AI 컨택센터 제안 TF)</dc:creator>
  <cp:lastModifiedBy>Company 피피에스</cp:lastModifiedBy>
  <cp:revision>970</cp:revision>
  <cp:lastPrinted>2024-04-25T14:59:32Z</cp:lastPrinted>
  <dcterms:created xsi:type="dcterms:W3CDTF">2023-10-17T06:11:23Z</dcterms:created>
  <dcterms:modified xsi:type="dcterms:W3CDTF">2025-09-24T08:30:35Z</dcterms:modified>
</cp:coreProperties>
</file>